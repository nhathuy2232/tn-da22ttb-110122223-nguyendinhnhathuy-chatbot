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embeddedFontLst>
    <p:embeddedFont>
      <p:font typeface="Calibri" panose="020F0502020204030204"/>
      <p:regular r:id="rId26"/>
      <p:bold r:id="rId27"/>
      <p:italic r:id="rId28"/>
      <p:boldItalic r:id="rId29"/>
    </p:embeddedFont>
    <p:embeddedFont>
      <p:font typeface="Public Sans"/>
      <p:regular r:id="rId30"/>
      <p:italic r:id="rId31"/>
    </p:embeddedFont>
    <p:embeddedFont>
      <p:font typeface="Public Sans SemiBold"/>
      <p:bold r:id="rId32"/>
    </p:embeddedFont>
    <p:embeddedFont>
      <p:font typeface="Public Sans ExtraBold"/>
      <p:bold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DBC4A4F-36F8-4EC4-A165-28E59364F6DA}"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font" Target="fonts/font8.fntdata"/><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8" name="Google Shape;98;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7" name="Google Shape;117;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6" name="Shape 136"/>
        <p:cNvGrpSpPr/>
        <p:nvPr/>
      </p:nvGrpSpPr>
      <p:grpSpPr>
        <a:xfrm>
          <a:off x="0" y="0"/>
          <a:ext cx="0" cy="0"/>
          <a:chOff x="0" y="0"/>
          <a:chExt cx="0" cy="0"/>
        </a:xfrm>
      </p:grpSpPr>
      <p:sp>
        <p:nvSpPr>
          <p:cNvPr id="137" name="Google Shape;137;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8" name="Google Shape;138;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g3f33f37f431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5" name="Google Shape;155;g3f33f37f431_0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3" name="Shape 163"/>
        <p:cNvGrpSpPr/>
        <p:nvPr/>
      </p:nvGrpSpPr>
      <p:grpSpPr>
        <a:xfrm>
          <a:off x="0" y="0"/>
          <a:ext cx="0" cy="0"/>
          <a:chOff x="0" y="0"/>
          <a:chExt cx="0" cy="0"/>
        </a:xfrm>
      </p:grpSpPr>
      <p:sp>
        <p:nvSpPr>
          <p:cNvPr id="164" name="Google Shape;164;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5" name="Google Shape;165;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5" name="Google Shape;175;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6" name="Google Shape;186;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2" name="Google Shape;202;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4" name="Google Shape;224;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5" name="Google Shape;245;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1" name="Google Shape;271;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1" name="Google Shape;291;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2" name="Google Shape;302;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0" name="Shape 320"/>
        <p:cNvGrpSpPr/>
        <p:nvPr/>
      </p:nvGrpSpPr>
      <p:grpSpPr>
        <a:xfrm>
          <a:off x="0" y="0"/>
          <a:ext cx="0" cy="0"/>
          <a:chOff x="0" y="0"/>
          <a:chExt cx="0" cy="0"/>
        </a:xfrm>
      </p:grpSpPr>
      <p:sp>
        <p:nvSpPr>
          <p:cNvPr id="321" name="Google Shape;321;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2" name="Google Shape;322;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1" name="Shape 341"/>
        <p:cNvGrpSpPr/>
        <p:nvPr/>
      </p:nvGrpSpPr>
      <p:grpSpPr>
        <a:xfrm>
          <a:off x="0" y="0"/>
          <a:ext cx="0" cy="0"/>
          <a:chOff x="0" y="0"/>
          <a:chExt cx="0" cy="0"/>
        </a:xfrm>
      </p:grpSpPr>
      <p:sp>
        <p:nvSpPr>
          <p:cNvPr id="342" name="Google Shape;342;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43" name="Google Shape;343;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4" name="Google Shape;364;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2" name="Google Shape;382;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7" name="Shape 387"/>
        <p:cNvGrpSpPr/>
        <p:nvPr/>
      </p:nvGrpSpPr>
      <p:grpSpPr>
        <a:xfrm>
          <a:off x="0" y="0"/>
          <a:ext cx="0" cy="0"/>
          <a:chOff x="0" y="0"/>
          <a:chExt cx="0" cy="0"/>
        </a:xfrm>
      </p:grpSpPr>
      <p:sp>
        <p:nvSpPr>
          <p:cNvPr id="388" name="Google Shape;388;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9" name="Google Shape;389;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0" Type="http://schemas.openxmlformats.org/officeDocument/2006/relationships/notesSlide" Target="../notesSlides/notesSlide14.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8.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7.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2"/>
          <a:srcRect/>
          <a:stretch>
            <a:fillRect/>
          </a:stretch>
        </p:blipFill>
        <p:spPr>
          <a:xfrm>
            <a:off x="2667000" y="5353050"/>
            <a:ext cx="4762500" cy="1028700"/>
          </a:xfrm>
          <a:prstGeom prst="rect">
            <a:avLst/>
          </a:prstGeom>
          <a:noFill/>
          <a:ln>
            <a:noFill/>
          </a:ln>
        </p:spPr>
      </p:pic>
      <p:pic>
        <p:nvPicPr>
          <p:cNvPr id="86" name="Google Shape;86;p13" descr="image.png"/>
          <p:cNvPicPr preferRelativeResize="0"/>
          <p:nvPr/>
        </p:nvPicPr>
        <p:blipFill rotWithShape="1">
          <a:blip r:embed="rId3"/>
          <a:srcRect/>
          <a:stretch>
            <a:fillRect/>
          </a:stretch>
        </p:blipFill>
        <p:spPr>
          <a:xfrm>
            <a:off x="285750" y="4762500"/>
            <a:ext cx="1809750" cy="1809750"/>
          </a:xfrm>
          <a:prstGeom prst="rect">
            <a:avLst/>
          </a:prstGeom>
          <a:noFill/>
          <a:ln>
            <a:noFill/>
          </a:ln>
        </p:spPr>
      </p:pic>
      <p:sp>
        <p:nvSpPr>
          <p:cNvPr id="87" name="Google Shape;87;p13"/>
          <p:cNvSpPr txBox="1"/>
          <p:nvPr/>
        </p:nvSpPr>
        <p:spPr>
          <a:xfrm>
            <a:off x="9296400" y="476250"/>
            <a:ext cx="2324100" cy="379065"/>
          </a:xfrm>
          <a:prstGeom prst="rect">
            <a:avLst/>
          </a:prstGeom>
          <a:noFill/>
          <a:ln>
            <a:noFill/>
          </a:ln>
        </p:spPr>
        <p:txBody>
          <a:bodyPr spcFirstLastPara="1" wrap="square" lIns="0" tIns="0" rIns="0" bIns="0" anchor="t" anchorCtr="0">
            <a:spAutoFit/>
          </a:bodyPr>
          <a:lstStyle/>
          <a:p>
            <a:pPr marL="0" marR="0" lvl="0" indent="0" algn="r" rtl="0">
              <a:lnSpc>
                <a:spcPct val="135000"/>
              </a:lnSpc>
              <a:spcBef>
                <a:spcPts val="0"/>
              </a:spcBef>
              <a:spcAft>
                <a:spcPts val="0"/>
              </a:spcAft>
              <a:buNone/>
            </a:pPr>
            <a:r>
              <a:rPr lang="en-US" sz="1125" b="1" i="0" u="none" strike="noStrike" cap="none">
                <a:solidFill>
                  <a:srgbClr val="FFFFFF"/>
                </a:solidFill>
                <a:latin typeface="Public Sans"/>
                <a:ea typeface="Public Sans"/>
                <a:cs typeface="Public Sans"/>
                <a:sym typeface="Public Sans"/>
              </a:rPr>
              <a:t>BỘ MÔN CÔNG NGHỆ THÔNG TIN </a:t>
            </a:r>
            <a:r>
              <a:rPr lang="en-US" sz="1125" b="0" i="0" u="none" strike="noStrike" cap="none">
                <a:solidFill>
                  <a:srgbClr val="FFFFFF"/>
                </a:solidFill>
                <a:latin typeface="Public Sans"/>
                <a:ea typeface="Public Sans"/>
                <a:cs typeface="Public Sans"/>
                <a:sym typeface="Public Sans"/>
              </a:rPr>
              <a:t>ĐỒ ÁN TỐT NGHIỆP KHÓA 2021</a:t>
            </a:r>
            <a:endParaRPr lang="en-US" sz="1125" b="0" i="0" u="none" strike="noStrike" cap="none">
              <a:solidFill>
                <a:srgbClr val="FFFFFF"/>
              </a:solidFill>
              <a:latin typeface="Public Sans"/>
              <a:ea typeface="Public Sans"/>
              <a:cs typeface="Public Sans"/>
              <a:sym typeface="Public Sans"/>
            </a:endParaRPr>
          </a:p>
        </p:txBody>
      </p:sp>
      <p:sp>
        <p:nvSpPr>
          <p:cNvPr id="89" name="Google Shape;89;p13"/>
          <p:cNvSpPr txBox="1"/>
          <p:nvPr/>
        </p:nvSpPr>
        <p:spPr>
          <a:xfrm>
            <a:off x="1571625" y="640556"/>
            <a:ext cx="2286000" cy="385613"/>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1200" b="1" i="0" u="none" strike="noStrike" cap="none">
                <a:solidFill>
                  <a:srgbClr val="FFFFFF"/>
                </a:solidFill>
                <a:latin typeface="Public Sans"/>
                <a:ea typeface="Public Sans"/>
                <a:cs typeface="Public Sans"/>
                <a:sym typeface="Public Sans"/>
              </a:rPr>
              <a:t>TRƯỜNG ĐẠI HỌC TRÀ VINH </a:t>
            </a:r>
            <a:r>
              <a:rPr lang="en-US" sz="1200" b="0" i="0" u="none" strike="noStrike" cap="none">
                <a:solidFill>
                  <a:srgbClr val="FFFFFF"/>
                </a:solidFill>
                <a:latin typeface="Public Sans"/>
                <a:ea typeface="Public Sans"/>
                <a:cs typeface="Public Sans"/>
                <a:sym typeface="Public Sans"/>
              </a:rPr>
              <a:t>TRƯỜNG KỸ THUẬT VÀ CÔNG NGHỆ</a:t>
            </a:r>
            <a:endParaRPr lang="en-US" sz="1200" b="0" i="0" u="none" strike="noStrike" cap="none">
              <a:solidFill>
                <a:srgbClr val="FFFFFF"/>
              </a:solidFill>
              <a:latin typeface="Public Sans"/>
              <a:ea typeface="Public Sans"/>
              <a:cs typeface="Public Sans"/>
              <a:sym typeface="Public Sans"/>
            </a:endParaRPr>
          </a:p>
        </p:txBody>
      </p:sp>
      <p:sp>
        <p:nvSpPr>
          <p:cNvPr id="90" name="Google Shape;90;p13"/>
          <p:cNvSpPr txBox="1"/>
          <p:nvPr/>
        </p:nvSpPr>
        <p:spPr>
          <a:xfrm>
            <a:off x="2905125" y="5524500"/>
            <a:ext cx="42862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FFFFFF"/>
                </a:solidFill>
                <a:latin typeface="Public Sans SemiBold"/>
                <a:ea typeface="Public Sans SemiBold"/>
                <a:cs typeface="Public Sans SemiBold"/>
                <a:sym typeface="Public Sans SemiBold"/>
              </a:rPr>
              <a:t>Giảng viên hướng dẫn: Th.S Trịnh Quốc Việt</a:t>
            </a:r>
            <a:endParaRPr lang="en-US" sz="1200" b="0" i="0" u="none" strike="noStrike" cap="none">
              <a:solidFill>
                <a:srgbClr val="FFFFFF"/>
              </a:solidFill>
              <a:latin typeface="Public Sans SemiBold"/>
              <a:ea typeface="Public Sans SemiBold"/>
              <a:cs typeface="Public Sans SemiBold"/>
              <a:sym typeface="Public Sans SemiBold"/>
            </a:endParaRPr>
          </a:p>
        </p:txBody>
      </p:sp>
      <p:sp>
        <p:nvSpPr>
          <p:cNvPr id="91" name="Google Shape;91;p13"/>
          <p:cNvSpPr txBox="1"/>
          <p:nvPr/>
        </p:nvSpPr>
        <p:spPr>
          <a:xfrm>
            <a:off x="2905125" y="5753100"/>
            <a:ext cx="42862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FFFFFF"/>
                </a:solidFill>
                <a:latin typeface="Public Sans SemiBold"/>
                <a:ea typeface="Public Sans SemiBold"/>
                <a:cs typeface="Public Sans SemiBold"/>
                <a:sym typeface="Public Sans SemiBold"/>
              </a:rPr>
              <a:t>Sinh viên thực hiện: Nguyễn Đình Nhật Huy</a:t>
            </a:r>
            <a:endParaRPr lang="en-US" sz="1200" b="0" i="0" u="none" strike="noStrike" cap="none">
              <a:solidFill>
                <a:srgbClr val="FFFFFF"/>
              </a:solidFill>
              <a:latin typeface="Public Sans SemiBold"/>
              <a:ea typeface="Public Sans SemiBold"/>
              <a:cs typeface="Public Sans SemiBold"/>
              <a:sym typeface="Public Sans SemiBold"/>
            </a:endParaRPr>
          </a:p>
        </p:txBody>
      </p:sp>
      <p:sp>
        <p:nvSpPr>
          <p:cNvPr id="92" name="Google Shape;92;p13"/>
          <p:cNvSpPr txBox="1"/>
          <p:nvPr/>
        </p:nvSpPr>
        <p:spPr>
          <a:xfrm>
            <a:off x="2905125" y="5981700"/>
            <a:ext cx="4286250"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FFFFFF"/>
                </a:solidFill>
                <a:latin typeface="Public Sans SemiBold"/>
                <a:ea typeface="Public Sans SemiBold"/>
                <a:cs typeface="Public Sans SemiBold"/>
                <a:sym typeface="Public Sans SemiBold"/>
              </a:rPr>
              <a:t>MSSV: 110122223, Lớp: DA22TTB</a:t>
            </a:r>
            <a:endParaRPr lang="en-US" sz="1200" b="0" i="0" u="none" strike="noStrike" cap="none">
              <a:solidFill>
                <a:srgbClr val="FFFFFF"/>
              </a:solidFill>
              <a:latin typeface="Public Sans SemiBold"/>
              <a:ea typeface="Public Sans SemiBold"/>
              <a:cs typeface="Public Sans SemiBold"/>
              <a:sym typeface="Public Sans SemiBold"/>
            </a:endParaRPr>
          </a:p>
        </p:txBody>
      </p:sp>
      <p:sp>
        <p:nvSpPr>
          <p:cNvPr id="93" name="Google Shape;93;p13"/>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4" name="Google Shape;94;p13"/>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5" name="Google Shape;95;p13"/>
          <p:cNvSpPr txBox="1"/>
          <p:nvPr/>
        </p:nvSpPr>
        <p:spPr>
          <a:xfrm>
            <a:off x="571500" y="2461914"/>
            <a:ext cx="10477500" cy="1619845"/>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3150" b="0" i="0" u="none" strike="noStrike" cap="none">
                <a:solidFill>
                  <a:srgbClr val="FFFFFF"/>
                </a:solidFill>
                <a:latin typeface="Public Sans ExtraBold"/>
                <a:ea typeface="Public Sans ExtraBold"/>
                <a:cs typeface="Public Sans ExtraBold"/>
                <a:sym typeface="Public Sans ExtraBold"/>
              </a:rPr>
              <a:t>XÂY DỰNG HỆ THỐNG CHATBOT HỖ TRỢ GIẢNG VIÊN THEO DÕI TIẾN ĐỘ HỌC TẬP VÀ CẢNH BÁO SINH VIÊN CÓ NGUY CƠ THÔI HỌC</a:t>
            </a:r>
            <a:endParaRPr lang="en-US" sz="3150" b="0" i="0" u="none" strike="noStrike" cap="none">
              <a:solidFill>
                <a:srgbClr val="FFFFFF"/>
              </a:solidFill>
              <a:latin typeface="Public Sans ExtraBold"/>
              <a:ea typeface="Public Sans ExtraBold"/>
              <a:cs typeface="Public Sans ExtraBold"/>
              <a:sym typeface="Public Sans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pic>
        <p:nvPicPr>
          <p:cNvPr id="100" name="Google Shape;100;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01" name="Google Shape;101;p14" descr="image.png"/>
          <p:cNvPicPr preferRelativeResize="0"/>
          <p:nvPr/>
        </p:nvPicPr>
        <p:blipFill rotWithShape="1">
          <a:blip r:embed="rId2"/>
          <a:srcRect/>
          <a:stretch>
            <a:fillRect/>
          </a:stretch>
        </p:blipFill>
        <p:spPr>
          <a:xfrm>
            <a:off x="3355340" y="1827272"/>
            <a:ext cx="5334000" cy="3916412"/>
          </a:xfrm>
          <a:prstGeom prst="rect">
            <a:avLst/>
          </a:prstGeom>
          <a:noFill/>
          <a:ln>
            <a:noFill/>
          </a:ln>
        </p:spPr>
      </p:pic>
      <p:sp>
        <p:nvSpPr>
          <p:cNvPr id="103" name="Google Shape;103;p14"/>
          <p:cNvSpPr txBox="1"/>
          <p:nvPr/>
        </p:nvSpPr>
        <p:spPr>
          <a:xfrm>
            <a:off x="3650615" y="2293997"/>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Quá trình chuyển đổi số tại các cơ sở giáo dục đại học tạo ra lượng lớn dữ liệu học tập trên LMS (Moodle). Tuy nhiên, việc khai thác dữ liệu này còn nhiều rào cản:</a:t>
            </a:r>
            <a:endParaRPr lang="en-US" sz="1350" b="0" i="0" u="none" strike="noStrike" cap="none">
              <a:solidFill>
                <a:srgbClr val="E2E8F0"/>
              </a:solidFill>
              <a:latin typeface="Public Sans"/>
              <a:ea typeface="Public Sans"/>
              <a:cs typeface="Public Sans"/>
              <a:sym typeface="Public Sans"/>
            </a:endParaRPr>
          </a:p>
        </p:txBody>
      </p:sp>
      <p:sp>
        <p:nvSpPr>
          <p:cNvPr id="105" name="Google Shape;105;p14"/>
          <p:cNvSpPr txBox="1"/>
          <p:nvPr/>
        </p:nvSpPr>
        <p:spPr>
          <a:xfrm>
            <a:off x="3983990" y="3288317"/>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Tra cứu thủ công:</a:t>
            </a:r>
            <a:r>
              <a:rPr lang="en-US" sz="1350" b="0" i="0" u="none" strike="noStrike" cap="none">
                <a:solidFill>
                  <a:srgbClr val="E2E8F0"/>
                </a:solidFill>
                <a:latin typeface="Public Sans"/>
                <a:ea typeface="Public Sans"/>
                <a:cs typeface="Public Sans"/>
                <a:sym typeface="Public Sans"/>
              </a:rPr>
              <a:t> Giảng viên mất nhiều thời gian rà soát điểm số, chuyên cần của hàng trăm sinh viên.</a:t>
            </a:r>
            <a:endParaRPr lang="en-US" sz="1350" b="0" i="0" u="none" strike="noStrike" cap="none">
              <a:solidFill>
                <a:srgbClr val="E2E8F0"/>
              </a:solidFill>
              <a:latin typeface="Public Sans"/>
              <a:ea typeface="Public Sans"/>
              <a:cs typeface="Public Sans"/>
              <a:sym typeface="Public Sans"/>
            </a:endParaRPr>
          </a:p>
        </p:txBody>
      </p:sp>
      <p:sp>
        <p:nvSpPr>
          <p:cNvPr id="106" name="Google Shape;106;p14"/>
          <p:cNvSpPr txBox="1"/>
          <p:nvPr/>
        </p:nvSpPr>
        <p:spPr>
          <a:xfrm>
            <a:off x="3983990" y="4008348"/>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Can thiệp muộn:</a:t>
            </a:r>
            <a:r>
              <a:rPr lang="en-US" sz="1350" b="0" i="0" u="none" strike="noStrike" cap="none">
                <a:solidFill>
                  <a:srgbClr val="E2E8F0"/>
                </a:solidFill>
                <a:latin typeface="Public Sans"/>
                <a:ea typeface="Public Sans"/>
                <a:cs typeface="Public Sans"/>
                <a:sym typeface="Public Sans"/>
              </a:rPr>
              <a:t> Khó phát hiện sớm các dấu hiệu sa sút dẫn đến việc sinh viên thôi học giữa chừng.</a:t>
            </a:r>
            <a:endParaRPr lang="en-US" sz="1350" b="0" i="0" u="none" strike="noStrike" cap="none">
              <a:solidFill>
                <a:srgbClr val="E2E8F0"/>
              </a:solidFill>
              <a:latin typeface="Public Sans"/>
              <a:ea typeface="Public Sans"/>
              <a:cs typeface="Public Sans"/>
              <a:sym typeface="Public Sans"/>
            </a:endParaRPr>
          </a:p>
        </p:txBody>
      </p:sp>
      <p:sp>
        <p:nvSpPr>
          <p:cNvPr id="107" name="Google Shape;107;p14"/>
          <p:cNvSpPr txBox="1"/>
          <p:nvPr/>
        </p:nvSpPr>
        <p:spPr>
          <a:xfrm>
            <a:off x="3983990" y="4728378"/>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Thiếu công cụ:</a:t>
            </a:r>
            <a:r>
              <a:rPr lang="en-US" sz="1350" b="0" i="0" u="none" strike="noStrike" cap="none">
                <a:solidFill>
                  <a:srgbClr val="E2E8F0"/>
                </a:solidFill>
                <a:latin typeface="Public Sans"/>
                <a:ea typeface="Public Sans"/>
                <a:cs typeface="Public Sans"/>
                <a:sym typeface="Public Sans"/>
              </a:rPr>
              <a:t> Chưa có kênh hỗ trợ tương tác trực quan, tức thì giúp giải đáp thông tin học tập.</a:t>
            </a:r>
            <a:endParaRPr lang="en-US" sz="1350" b="0" i="0" u="none" strike="noStrike" cap="none">
              <a:solidFill>
                <a:srgbClr val="E2E8F0"/>
              </a:solidFill>
              <a:latin typeface="Public Sans"/>
              <a:ea typeface="Public Sans"/>
              <a:cs typeface="Public Sans"/>
              <a:sym typeface="Public Sans"/>
            </a:endParaRPr>
          </a:p>
        </p:txBody>
      </p:sp>
      <p:pic>
        <p:nvPicPr>
          <p:cNvPr id="108" name="Google Shape;108;p14" descr="image.png"/>
          <p:cNvPicPr preferRelativeResize="0"/>
          <p:nvPr/>
        </p:nvPicPr>
        <p:blipFill rotWithShape="1">
          <a:blip r:embed="rId3"/>
          <a:srcRect/>
          <a:stretch>
            <a:fillRect/>
          </a:stretch>
        </p:blipFill>
        <p:spPr>
          <a:xfrm>
            <a:off x="3650615" y="3331180"/>
            <a:ext cx="190500" cy="200025"/>
          </a:xfrm>
          <a:prstGeom prst="rect">
            <a:avLst/>
          </a:prstGeom>
          <a:noFill/>
          <a:ln>
            <a:noFill/>
          </a:ln>
        </p:spPr>
      </p:pic>
      <p:pic>
        <p:nvPicPr>
          <p:cNvPr id="109" name="Google Shape;109;p14" descr="image.png"/>
          <p:cNvPicPr preferRelativeResize="0"/>
          <p:nvPr/>
        </p:nvPicPr>
        <p:blipFill rotWithShape="1">
          <a:blip r:embed="rId4"/>
          <a:srcRect/>
          <a:stretch>
            <a:fillRect/>
          </a:stretch>
        </p:blipFill>
        <p:spPr>
          <a:xfrm>
            <a:off x="3650615" y="4051210"/>
            <a:ext cx="190500" cy="200025"/>
          </a:xfrm>
          <a:prstGeom prst="rect">
            <a:avLst/>
          </a:prstGeom>
          <a:noFill/>
          <a:ln>
            <a:noFill/>
          </a:ln>
        </p:spPr>
      </p:pic>
      <p:pic>
        <p:nvPicPr>
          <p:cNvPr id="110" name="Google Shape;110;p14" descr="image.png"/>
          <p:cNvPicPr preferRelativeResize="0"/>
          <p:nvPr/>
        </p:nvPicPr>
        <p:blipFill rotWithShape="1">
          <a:blip r:embed="rId5"/>
          <a:srcRect/>
          <a:stretch>
            <a:fillRect/>
          </a:stretch>
        </p:blipFill>
        <p:spPr>
          <a:xfrm>
            <a:off x="3650615" y="4771241"/>
            <a:ext cx="238125" cy="200025"/>
          </a:xfrm>
          <a:prstGeom prst="rect">
            <a:avLst/>
          </a:prstGeom>
          <a:noFill/>
          <a:ln>
            <a:noFill/>
          </a:ln>
        </p:spPr>
      </p:pic>
      <p:sp>
        <p:nvSpPr>
          <p:cNvPr id="111" name="Google Shape;111;p14"/>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2" name="Google Shape;112;p14"/>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3" name="Google Shape;113;p14"/>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LÝ DO CHỌN ĐỀ TÀI</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114" name="Google Shape;114;p14"/>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pic>
        <p:nvPicPr>
          <p:cNvPr id="119" name="Google Shape;119;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0" name="Google Shape;120;p15" descr="image.png"/>
          <p:cNvPicPr preferRelativeResize="0"/>
          <p:nvPr/>
        </p:nvPicPr>
        <p:blipFill rotWithShape="1">
          <a:blip r:embed="rId2"/>
          <a:srcRect/>
          <a:stretch>
            <a:fillRect/>
          </a:stretch>
        </p:blipFill>
        <p:spPr>
          <a:xfrm>
            <a:off x="571500" y="2213669"/>
            <a:ext cx="3524250" cy="3145035"/>
          </a:xfrm>
          <a:prstGeom prst="rect">
            <a:avLst/>
          </a:prstGeom>
          <a:noFill/>
          <a:ln>
            <a:noFill/>
          </a:ln>
        </p:spPr>
      </p:pic>
      <p:pic>
        <p:nvPicPr>
          <p:cNvPr id="121" name="Google Shape;121;p15" descr="image.png"/>
          <p:cNvPicPr preferRelativeResize="0"/>
          <p:nvPr/>
        </p:nvPicPr>
        <p:blipFill rotWithShape="1">
          <a:blip r:embed="rId2"/>
          <a:srcRect/>
          <a:stretch>
            <a:fillRect/>
          </a:stretch>
        </p:blipFill>
        <p:spPr>
          <a:xfrm>
            <a:off x="4333875" y="2213669"/>
            <a:ext cx="3524250" cy="3145035"/>
          </a:xfrm>
          <a:prstGeom prst="rect">
            <a:avLst/>
          </a:prstGeom>
          <a:noFill/>
          <a:ln>
            <a:noFill/>
          </a:ln>
        </p:spPr>
      </p:pic>
      <p:pic>
        <p:nvPicPr>
          <p:cNvPr id="122" name="Google Shape;122;p15" descr="image.png"/>
          <p:cNvPicPr preferRelativeResize="0"/>
          <p:nvPr/>
        </p:nvPicPr>
        <p:blipFill rotWithShape="1">
          <a:blip r:embed="rId2"/>
          <a:srcRect/>
          <a:stretch>
            <a:fillRect/>
          </a:stretch>
        </p:blipFill>
        <p:spPr>
          <a:xfrm>
            <a:off x="8096250" y="2213669"/>
            <a:ext cx="3524250" cy="3145035"/>
          </a:xfrm>
          <a:prstGeom prst="rect">
            <a:avLst/>
          </a:prstGeom>
          <a:noFill/>
          <a:ln>
            <a:noFill/>
          </a:ln>
        </p:spPr>
      </p:pic>
      <p:sp>
        <p:nvSpPr>
          <p:cNvPr id="123" name="Google Shape;123;p15"/>
          <p:cNvSpPr txBox="1"/>
          <p:nvPr/>
        </p:nvSpPr>
        <p:spPr>
          <a:xfrm>
            <a:off x="866775"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Chatbot thông minh</a:t>
            </a:r>
            <a:endParaRPr lang="en-US" sz="1650" b="1" i="0" u="none" strike="noStrike" cap="none">
              <a:solidFill>
                <a:srgbClr val="00E5FF"/>
              </a:solidFill>
              <a:latin typeface="Public Sans"/>
              <a:ea typeface="Public Sans"/>
              <a:cs typeface="Public Sans"/>
              <a:sym typeface="Public Sans"/>
            </a:endParaRPr>
          </a:p>
        </p:txBody>
      </p:sp>
      <p:sp>
        <p:nvSpPr>
          <p:cNvPr id="124" name="Google Shape;124;p15"/>
          <p:cNvSpPr txBox="1"/>
          <p:nvPr/>
        </p:nvSpPr>
        <p:spPr>
          <a:xfrm>
            <a:off x="866775"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Phát triển chatbot xử lý ngôn ngữ tự nhiên thông thạo tiếng Việt giúp tra cứu dữ liệu học lực tức thì, phản hồi sinh động.</a:t>
            </a:r>
            <a:endParaRPr lang="en-US" sz="1350" b="0" i="0" u="none" strike="noStrike" cap="none">
              <a:solidFill>
                <a:srgbClr val="E2E8F0"/>
              </a:solidFill>
              <a:latin typeface="Public Sans"/>
              <a:ea typeface="Public Sans"/>
              <a:cs typeface="Public Sans"/>
              <a:sym typeface="Public Sans"/>
            </a:endParaRPr>
          </a:p>
        </p:txBody>
      </p:sp>
      <p:sp>
        <p:nvSpPr>
          <p:cNvPr id="125" name="Google Shape;125;p15"/>
          <p:cNvSpPr txBox="1"/>
          <p:nvPr/>
        </p:nvSpPr>
        <p:spPr>
          <a:xfrm>
            <a:off x="4629150"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Đồng bộ Moodle</a:t>
            </a:r>
            <a:endParaRPr lang="en-US" sz="1650" b="1" i="0" u="none" strike="noStrike" cap="none">
              <a:solidFill>
                <a:srgbClr val="00E5FF"/>
              </a:solidFill>
              <a:latin typeface="Public Sans"/>
              <a:ea typeface="Public Sans"/>
              <a:cs typeface="Public Sans"/>
              <a:sym typeface="Public Sans"/>
            </a:endParaRPr>
          </a:p>
        </p:txBody>
      </p:sp>
      <p:sp>
        <p:nvSpPr>
          <p:cNvPr id="126" name="Google Shape;126;p15"/>
          <p:cNvSpPr txBox="1"/>
          <p:nvPr/>
        </p:nvSpPr>
        <p:spPr>
          <a:xfrm>
            <a:off x="4629150"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Tích hợp chặt chẽ với hệ thống LMS Moodle thông qua cơ chế Web Services an toàn, tối ưu hóa tốc độ đồng bộ định kỳ.</a:t>
            </a:r>
            <a:endParaRPr lang="en-US" sz="1350" b="0" i="0" u="none" strike="noStrike" cap="none">
              <a:solidFill>
                <a:srgbClr val="E2E8F0"/>
              </a:solidFill>
              <a:latin typeface="Public Sans"/>
              <a:ea typeface="Public Sans"/>
              <a:cs typeface="Public Sans"/>
              <a:sym typeface="Public Sans"/>
            </a:endParaRPr>
          </a:p>
        </p:txBody>
      </p:sp>
      <p:sp>
        <p:nvSpPr>
          <p:cNvPr id="127" name="Google Shape;127;p15"/>
          <p:cNvSpPr txBox="1"/>
          <p:nvPr/>
        </p:nvSpPr>
        <p:spPr>
          <a:xfrm>
            <a:off x="8391525"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Cảnh báo sớm</a:t>
            </a:r>
            <a:endParaRPr lang="en-US" sz="1650" b="1" i="0" u="none" strike="noStrike" cap="none">
              <a:solidFill>
                <a:srgbClr val="00E5FF"/>
              </a:solidFill>
              <a:latin typeface="Public Sans"/>
              <a:ea typeface="Public Sans"/>
              <a:cs typeface="Public Sans"/>
              <a:sym typeface="Public Sans"/>
            </a:endParaRPr>
          </a:p>
        </p:txBody>
      </p:sp>
      <p:sp>
        <p:nvSpPr>
          <p:cNvPr id="128" name="Google Shape;128;p15"/>
          <p:cNvSpPr txBox="1"/>
          <p:nvPr/>
        </p:nvSpPr>
        <p:spPr>
          <a:xfrm>
            <a:off x="8391525"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Xây dựng thuật toán tự động nhận diện và phân loại sinh viên có nguy cơ học tập kém nhằm đưa ra các hỗ trợ giáo dục kịp thời.</a:t>
            </a:r>
            <a:endParaRPr lang="en-US" sz="1350" b="0" i="0" u="none" strike="noStrike" cap="none">
              <a:solidFill>
                <a:srgbClr val="E2E8F0"/>
              </a:solidFill>
              <a:latin typeface="Public Sans"/>
              <a:ea typeface="Public Sans"/>
              <a:cs typeface="Public Sans"/>
              <a:sym typeface="Public Sans"/>
            </a:endParaRPr>
          </a:p>
        </p:txBody>
      </p:sp>
      <p:pic>
        <p:nvPicPr>
          <p:cNvPr id="129" name="Google Shape;129;p15" descr="image.png"/>
          <p:cNvPicPr preferRelativeResize="0"/>
          <p:nvPr/>
        </p:nvPicPr>
        <p:blipFill rotWithShape="1">
          <a:blip r:embed="rId3"/>
          <a:srcRect/>
          <a:stretch>
            <a:fillRect/>
          </a:stretch>
        </p:blipFill>
        <p:spPr>
          <a:xfrm>
            <a:off x="866775" y="2585144"/>
            <a:ext cx="523875" cy="419100"/>
          </a:xfrm>
          <a:prstGeom prst="rect">
            <a:avLst/>
          </a:prstGeom>
          <a:noFill/>
          <a:ln>
            <a:noFill/>
          </a:ln>
        </p:spPr>
      </p:pic>
      <p:pic>
        <p:nvPicPr>
          <p:cNvPr id="130" name="Google Shape;130;p15" descr="image.png"/>
          <p:cNvPicPr preferRelativeResize="0"/>
          <p:nvPr/>
        </p:nvPicPr>
        <p:blipFill rotWithShape="1">
          <a:blip r:embed="rId4"/>
          <a:srcRect/>
          <a:stretch>
            <a:fillRect/>
          </a:stretch>
        </p:blipFill>
        <p:spPr>
          <a:xfrm>
            <a:off x="4629150" y="2585144"/>
            <a:ext cx="523875" cy="419100"/>
          </a:xfrm>
          <a:prstGeom prst="rect">
            <a:avLst/>
          </a:prstGeom>
          <a:noFill/>
          <a:ln>
            <a:noFill/>
          </a:ln>
        </p:spPr>
      </p:pic>
      <p:pic>
        <p:nvPicPr>
          <p:cNvPr id="131" name="Google Shape;131;p15" descr="image.png"/>
          <p:cNvPicPr preferRelativeResize="0"/>
          <p:nvPr/>
        </p:nvPicPr>
        <p:blipFill rotWithShape="1">
          <a:blip r:embed="rId5"/>
          <a:srcRect/>
          <a:stretch>
            <a:fillRect/>
          </a:stretch>
        </p:blipFill>
        <p:spPr>
          <a:xfrm>
            <a:off x="8391525" y="2585144"/>
            <a:ext cx="419100" cy="419100"/>
          </a:xfrm>
          <a:prstGeom prst="rect">
            <a:avLst/>
          </a:prstGeom>
          <a:noFill/>
          <a:ln>
            <a:noFill/>
          </a:ln>
        </p:spPr>
      </p:pic>
      <p:sp>
        <p:nvSpPr>
          <p:cNvPr id="132" name="Google Shape;132;p15"/>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3" name="Google Shape;133;p15"/>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4" name="Google Shape;134;p15"/>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MỤC TIÊU CỦA ĐỀ TÀI</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135" name="Google Shape;135;p15"/>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pic>
        <p:nvPicPr>
          <p:cNvPr id="140" name="Google Shape;140;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41" name="Google Shape;141;p16" descr="image.png"/>
          <p:cNvPicPr preferRelativeResize="0"/>
          <p:nvPr/>
        </p:nvPicPr>
        <p:blipFill rotWithShape="1">
          <a:blip r:embed="rId2"/>
          <a:srcRect/>
          <a:stretch>
            <a:fillRect/>
          </a:stretch>
        </p:blipFill>
        <p:spPr>
          <a:xfrm>
            <a:off x="571500" y="2120354"/>
            <a:ext cx="5334000" cy="3331666"/>
          </a:xfrm>
          <a:prstGeom prst="rect">
            <a:avLst/>
          </a:prstGeom>
          <a:noFill/>
          <a:ln>
            <a:noFill/>
          </a:ln>
        </p:spPr>
      </p:pic>
      <p:pic>
        <p:nvPicPr>
          <p:cNvPr id="142" name="Google Shape;142;p16" descr="image.png"/>
          <p:cNvPicPr preferRelativeResize="0"/>
          <p:nvPr/>
        </p:nvPicPr>
        <p:blipFill rotWithShape="1">
          <a:blip r:embed="rId2"/>
          <a:srcRect/>
          <a:stretch>
            <a:fillRect/>
          </a:stretch>
        </p:blipFill>
        <p:spPr>
          <a:xfrm>
            <a:off x="6286500" y="2120354"/>
            <a:ext cx="5334000" cy="3331666"/>
          </a:xfrm>
          <a:prstGeom prst="rect">
            <a:avLst/>
          </a:prstGeom>
          <a:noFill/>
          <a:ln>
            <a:noFill/>
          </a:ln>
        </p:spPr>
      </p:pic>
      <p:sp>
        <p:nvSpPr>
          <p:cNvPr id="143" name="Google Shape;143;p16"/>
          <p:cNvSpPr txBox="1"/>
          <p:nvPr/>
        </p:nvSpPr>
        <p:spPr>
          <a:xfrm>
            <a:off x="866775" y="2415629"/>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E5FF"/>
                </a:solidFill>
                <a:latin typeface="Public Sans"/>
                <a:ea typeface="Public Sans"/>
                <a:cs typeface="Public Sans"/>
                <a:sym typeface="Public Sans"/>
              </a:rPr>
              <a:t>Đối tượng nghiên cứu</a:t>
            </a:r>
            <a:endParaRPr lang="en-US" sz="1800" b="1" i="0" u="none" strike="noStrike" cap="none">
              <a:solidFill>
                <a:srgbClr val="00E5FF"/>
              </a:solidFill>
              <a:latin typeface="Public Sans"/>
              <a:ea typeface="Public Sans"/>
              <a:cs typeface="Public Sans"/>
              <a:sym typeface="Public Sans"/>
            </a:endParaRPr>
          </a:p>
        </p:txBody>
      </p:sp>
      <p:sp>
        <p:nvSpPr>
          <p:cNvPr id="144" name="Google Shape;144;p16"/>
          <p:cNvSpPr txBox="1"/>
          <p:nvPr/>
        </p:nvSpPr>
        <p:spPr>
          <a:xfrm>
            <a:off x="866775" y="2996654"/>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Tập trung nghiên cứu các cơ chế hoạt động của Moodle Web Services, cấu trúc cơ sở dữ liệu học tập (bảng điểm, chuyên cần, lịch sử truy cập).</a:t>
            </a:r>
            <a:endParaRPr lang="en-US" sz="1350" b="0" i="0" u="none" strike="noStrike" cap="none">
              <a:solidFill>
                <a:srgbClr val="E2E8F0"/>
              </a:solidFill>
              <a:latin typeface="Public Sans"/>
              <a:ea typeface="Public Sans"/>
              <a:cs typeface="Public Sans"/>
              <a:sym typeface="Public Sans"/>
            </a:endParaRPr>
          </a:p>
        </p:txBody>
      </p:sp>
      <p:sp>
        <p:nvSpPr>
          <p:cNvPr id="145" name="Google Shape;145;p16"/>
          <p:cNvSpPr txBox="1"/>
          <p:nvPr/>
        </p:nvSpPr>
        <p:spPr>
          <a:xfrm>
            <a:off x="866775" y="4162425"/>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Nghiên cứu kiến trúc xử lý ngôn ngữ tự nhiên (NLP) lai kết hợp giữa quy tắc so khớp cục bộ và mô hình ngôn ngữ lớn (LLM Claude).</a:t>
            </a:r>
            <a:endParaRPr lang="en-US" sz="1350" b="0" i="0" u="none" strike="noStrike" cap="none">
              <a:solidFill>
                <a:srgbClr val="E2E8F0"/>
              </a:solidFill>
              <a:latin typeface="Public Sans"/>
              <a:ea typeface="Public Sans"/>
              <a:cs typeface="Public Sans"/>
              <a:sym typeface="Public Sans"/>
            </a:endParaRPr>
          </a:p>
        </p:txBody>
      </p:sp>
      <p:sp>
        <p:nvSpPr>
          <p:cNvPr id="146" name="Google Shape;146;p16"/>
          <p:cNvSpPr txBox="1"/>
          <p:nvPr/>
        </p:nvSpPr>
        <p:spPr>
          <a:xfrm>
            <a:off x="6581775" y="2415629"/>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E5FF"/>
                </a:solidFill>
                <a:latin typeface="Public Sans"/>
                <a:ea typeface="Public Sans"/>
                <a:cs typeface="Public Sans"/>
                <a:sym typeface="Public Sans"/>
              </a:rPr>
              <a:t>Phạm vi ứng dụng</a:t>
            </a:r>
            <a:endParaRPr lang="en-US" sz="1800" b="1" i="0" u="none" strike="noStrike" cap="none">
              <a:solidFill>
                <a:srgbClr val="00E5FF"/>
              </a:solidFill>
              <a:latin typeface="Public Sans"/>
              <a:ea typeface="Public Sans"/>
              <a:cs typeface="Public Sans"/>
              <a:sym typeface="Public Sans"/>
            </a:endParaRPr>
          </a:p>
        </p:txBody>
      </p:sp>
      <p:sp>
        <p:nvSpPr>
          <p:cNvPr id="147" name="Google Shape;147;p16"/>
          <p:cNvSpPr txBox="1"/>
          <p:nvPr/>
        </p:nvSpPr>
        <p:spPr>
          <a:xfrm>
            <a:off x="6581775" y="2996654"/>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Triển khai thực nghiệm trong phạm vi các học phần thuộc Trường Kỹ thuật &amp; Công nghệ - Đại học Trà Vinh.</a:t>
            </a:r>
            <a:endParaRPr lang="en-US" sz="1350" b="0" i="0" u="none" strike="noStrike" cap="none">
              <a:solidFill>
                <a:srgbClr val="E2E8F0"/>
              </a:solidFill>
              <a:latin typeface="Public Sans"/>
              <a:ea typeface="Public Sans"/>
              <a:cs typeface="Public Sans"/>
              <a:sym typeface="Public Sans"/>
            </a:endParaRPr>
          </a:p>
        </p:txBody>
      </p:sp>
      <p:sp>
        <p:nvSpPr>
          <p:cNvPr id="148" name="Google Shape;148;p16"/>
          <p:cNvSpPr txBox="1"/>
          <p:nvPr/>
        </p:nvSpPr>
        <p:spPr>
          <a:xfrm>
            <a:off x="6581775" y="3888134"/>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Hệ thống hỗ trợ quản lý cảnh báo dựa trên các dữ liệu trực tuyến được đồng bộ trên hệ thống LMS, không thay thế hoàn toàn vai trò của cố vấn.</a:t>
            </a:r>
            <a:endParaRPr lang="en-US" sz="1350" b="0" i="0" u="none" strike="noStrike" cap="none">
              <a:solidFill>
                <a:srgbClr val="E2E8F0"/>
              </a:solidFill>
              <a:latin typeface="Public Sans"/>
              <a:ea typeface="Public Sans"/>
              <a:cs typeface="Public Sans"/>
              <a:sym typeface="Public Sans"/>
            </a:endParaRPr>
          </a:p>
        </p:txBody>
      </p:sp>
      <p:sp>
        <p:nvSpPr>
          <p:cNvPr id="149" name="Google Shape;149;p16"/>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0" name="Google Shape;150;p16"/>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1" name="Google Shape;151;p16"/>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ĐỐI TƯỢNG &amp; PHẠM VI NGHIÊN CỨU</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152" name="Google Shape;152;p16"/>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pic>
        <p:nvPicPr>
          <p:cNvPr id="157" name="Google Shape;157;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58" name="Google Shape;158;p17"/>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9" name="Google Shape;159;p17"/>
          <p:cNvSpPr/>
          <p:nvPr/>
        </p:nvSpPr>
        <p:spPr>
          <a:xfrm>
            <a:off x="10287000" y="-952500"/>
            <a:ext cx="2381400" cy="238140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0" name="Google Shape;160;p17"/>
          <p:cNvSpPr txBox="1"/>
          <p:nvPr/>
        </p:nvSpPr>
        <p:spPr>
          <a:xfrm>
            <a:off x="762000" y="571500"/>
            <a:ext cx="114015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a:solidFill>
                  <a:srgbClr val="FFFFFF"/>
                </a:solidFill>
                <a:latin typeface="Public Sans ExtraBold"/>
                <a:ea typeface="Public Sans ExtraBold"/>
                <a:cs typeface="Public Sans ExtraBold"/>
                <a:sym typeface="Public Sans ExtraBold"/>
              </a:rPr>
              <a:t>KIẾN TRÚC HỆ THỐNG </a:t>
            </a:r>
            <a:endParaRPr lang="en-US" sz="2550">
              <a:solidFill>
                <a:srgbClr val="FFFFFF"/>
              </a:solidFill>
              <a:latin typeface="Public Sans ExtraBold"/>
              <a:ea typeface="Public Sans ExtraBold"/>
              <a:cs typeface="Public Sans ExtraBold"/>
              <a:sym typeface="Public Sans ExtraBold"/>
            </a:endParaRPr>
          </a:p>
        </p:txBody>
      </p:sp>
      <p:sp>
        <p:nvSpPr>
          <p:cNvPr id="161" name="Google Shape;161;p17"/>
          <p:cNvSpPr/>
          <p:nvPr/>
        </p:nvSpPr>
        <p:spPr>
          <a:xfrm>
            <a:off x="571500" y="571500"/>
            <a:ext cx="5730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62" name="Google Shape;162;p17"/>
          <p:cNvPicPr preferRelativeResize="0"/>
          <p:nvPr/>
        </p:nvPicPr>
        <p:blipFill>
          <a:blip r:embed="rId2"/>
          <a:stretch>
            <a:fillRect/>
          </a:stretch>
        </p:blipFill>
        <p:spPr>
          <a:xfrm>
            <a:off x="959825" y="1347800"/>
            <a:ext cx="9570075" cy="4762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6" name="Shape 166"/>
        <p:cNvGrpSpPr/>
        <p:nvPr/>
      </p:nvGrpSpPr>
      <p:grpSpPr>
        <a:xfrm>
          <a:off x="0" y="0"/>
          <a:ext cx="0" cy="0"/>
          <a:chOff x="0" y="0"/>
          <a:chExt cx="0" cy="0"/>
        </a:xfrm>
      </p:grpSpPr>
      <p:pic>
        <p:nvPicPr>
          <p:cNvPr id="167" name="Google Shape;167;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68" name="Google Shape;168;p18"/>
          <p:cNvSpPr/>
          <p:nvPr/>
        </p:nvSpPr>
        <p:spPr>
          <a:xfrm>
            <a:off x="5381625" y="2450901"/>
            <a:ext cx="1428750" cy="47625"/>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9" name="Google Shape;169;p18"/>
          <p:cNvSpPr txBox="1"/>
          <p:nvPr/>
        </p:nvSpPr>
        <p:spPr>
          <a:xfrm>
            <a:off x="1725453" y="2879526"/>
            <a:ext cx="8741092" cy="6457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0" i="0" u="none" strike="noStrike" cap="none">
                <a:solidFill>
                  <a:srgbClr val="FFFFFF"/>
                </a:solidFill>
                <a:latin typeface="Public Sans ExtraBold"/>
                <a:ea typeface="Public Sans ExtraBold"/>
                <a:cs typeface="Public Sans ExtraBold"/>
                <a:sym typeface="Public Sans ExtraBold"/>
              </a:rPr>
              <a:t>CƠ SỞ LÝ THUYẾT</a:t>
            </a:r>
            <a:endParaRPr lang="en-US" sz="4200" b="0" i="0" u="none" strike="noStrike" cap="none">
              <a:solidFill>
                <a:srgbClr val="FFFFFF"/>
              </a:solidFill>
              <a:latin typeface="Public Sans ExtraBold"/>
              <a:ea typeface="Public Sans ExtraBold"/>
              <a:cs typeface="Public Sans ExtraBold"/>
              <a:sym typeface="Public Sans ExtraBold"/>
            </a:endParaRPr>
          </a:p>
        </p:txBody>
      </p:sp>
      <p:sp>
        <p:nvSpPr>
          <p:cNvPr id="170" name="Google Shape;170;p18"/>
          <p:cNvSpPr txBox="1"/>
          <p:nvPr/>
        </p:nvSpPr>
        <p:spPr>
          <a:xfrm>
            <a:off x="2286000" y="3908226"/>
            <a:ext cx="76200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E2E8F0"/>
                </a:solidFill>
                <a:latin typeface="Public Sans"/>
                <a:ea typeface="Public Sans"/>
                <a:cs typeface="Public Sans"/>
                <a:sym typeface="Public Sans"/>
              </a:rPr>
              <a:t>Tìm hiểu các khái niệm nền tảng về Moodle LMS, NLP, mô hình AI và các chỉ số đánh giá rủi ro học tập của người học.</a:t>
            </a:r>
            <a:endParaRPr lang="en-US" sz="1650" b="0" i="0" u="none" strike="noStrike" cap="none">
              <a:solidFill>
                <a:srgbClr val="E2E8F0"/>
              </a:solidFill>
              <a:latin typeface="Public Sans"/>
              <a:ea typeface="Public Sans"/>
              <a:cs typeface="Public Sans"/>
              <a:sym typeface="Public Sans"/>
            </a:endParaRPr>
          </a:p>
        </p:txBody>
      </p:sp>
      <p:sp>
        <p:nvSpPr>
          <p:cNvPr id="171" name="Google Shape;171;p18"/>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2" name="Google Shape;172;p18"/>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pic>
        <p:nvPicPr>
          <p:cNvPr id="177" name="Google Shape;177;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78" name="Google Shape;178;p19"/>
          <p:cNvSpPr txBox="1"/>
          <p:nvPr/>
        </p:nvSpPr>
        <p:spPr>
          <a:xfrm>
            <a:off x="762000" y="2199382"/>
            <a:ext cx="50006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MOODLE WEB SERVICES</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179" name="Google Shape;179;p19"/>
          <p:cNvSpPr/>
          <p:nvPr/>
        </p:nvSpPr>
        <p:spPr>
          <a:xfrm>
            <a:off x="571500" y="2199382"/>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0" name="Google Shape;180;p19"/>
          <p:cNvSpPr txBox="1"/>
          <p:nvPr/>
        </p:nvSpPr>
        <p:spPr>
          <a:xfrm>
            <a:off x="571500" y="3085207"/>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Moodle hỗ trợ Web Services cho phép hệ thống bên ngoài truy xuất dữ liệu thông qua Token an toàn.</a:t>
            </a:r>
            <a:endParaRPr lang="en-US" sz="1350" b="0" i="0" u="none" strike="noStrike" cap="none">
              <a:solidFill>
                <a:srgbClr val="E2E8F0"/>
              </a:solidFill>
              <a:latin typeface="Public Sans"/>
              <a:ea typeface="Public Sans"/>
              <a:cs typeface="Public Sans"/>
              <a:sym typeface="Public Sans"/>
            </a:endParaRPr>
          </a:p>
        </p:txBody>
      </p:sp>
      <p:sp>
        <p:nvSpPr>
          <p:cNvPr id="181" name="Google Shape;181;p19"/>
          <p:cNvSpPr txBox="1"/>
          <p:nvPr/>
        </p:nvSpPr>
        <p:spPr>
          <a:xfrm>
            <a:off x="571500" y="3976687"/>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Dữ liệu đồng bộ bao gồm khóa học, điểm số và tần suất tương tác của sinh viên trên hệ thống.</a:t>
            </a:r>
            <a:endParaRPr lang="en-US" sz="1350" b="0" i="0" u="none" strike="noStrike" cap="none">
              <a:solidFill>
                <a:srgbClr val="E2E8F0"/>
              </a:solidFill>
              <a:latin typeface="Public Sans"/>
              <a:ea typeface="Public Sans"/>
              <a:cs typeface="Public Sans"/>
              <a:sym typeface="Public Sans"/>
            </a:endParaRPr>
          </a:p>
        </p:txBody>
      </p:sp>
      <p:pic>
        <p:nvPicPr>
          <p:cNvPr id="182" name="Google Shape;182;p19" descr="image.png"/>
          <p:cNvPicPr preferRelativeResize="0"/>
          <p:nvPr/>
        </p:nvPicPr>
        <p:blipFill rotWithShape="1">
          <a:blip r:embed="rId2"/>
          <a:srcRect/>
          <a:stretch>
            <a:fillRect/>
          </a:stretch>
        </p:blipFill>
        <p:spPr>
          <a:xfrm>
            <a:off x="6096000" y="0"/>
            <a:ext cx="6096000" cy="6858000"/>
          </a:xfrm>
          <a:prstGeom prst="rect">
            <a:avLst/>
          </a:prstGeom>
          <a:noFill/>
          <a:ln>
            <a:noFill/>
          </a:ln>
        </p:spPr>
      </p:pic>
      <p:sp>
        <p:nvSpPr>
          <p:cNvPr id="183" name="Google Shape;183;p19"/>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pic>
        <p:nvPicPr>
          <p:cNvPr id="188" name="Google Shape;188;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89" name="Google Shape;189;p20" descr="image.png"/>
          <p:cNvPicPr preferRelativeResize="0"/>
          <p:nvPr/>
        </p:nvPicPr>
        <p:blipFill rotWithShape="1">
          <a:blip r:embed="rId2"/>
          <a:srcRect/>
          <a:stretch>
            <a:fillRect/>
          </a:stretch>
        </p:blipFill>
        <p:spPr>
          <a:xfrm>
            <a:off x="571500" y="2262038"/>
            <a:ext cx="3048000" cy="3048000"/>
          </a:xfrm>
          <a:prstGeom prst="rect">
            <a:avLst/>
          </a:prstGeom>
          <a:noFill/>
          <a:ln>
            <a:noFill/>
          </a:ln>
        </p:spPr>
      </p:pic>
      <p:pic>
        <p:nvPicPr>
          <p:cNvPr id="190" name="Google Shape;190;p20" descr="image.png"/>
          <p:cNvPicPr preferRelativeResize="0"/>
          <p:nvPr/>
        </p:nvPicPr>
        <p:blipFill rotWithShape="1">
          <a:blip r:embed="rId3"/>
          <a:srcRect/>
          <a:stretch>
            <a:fillRect/>
          </a:stretch>
        </p:blipFill>
        <p:spPr>
          <a:xfrm>
            <a:off x="6286500" y="1808857"/>
            <a:ext cx="5334000" cy="3954512"/>
          </a:xfrm>
          <a:prstGeom prst="rect">
            <a:avLst/>
          </a:prstGeom>
          <a:noFill/>
          <a:ln>
            <a:noFill/>
          </a:ln>
        </p:spPr>
      </p:pic>
      <p:pic>
        <p:nvPicPr>
          <p:cNvPr id="191" name="Google Shape;191;p20" descr="image.png"/>
          <p:cNvPicPr preferRelativeResize="0"/>
          <p:nvPr/>
        </p:nvPicPr>
        <p:blipFill rotWithShape="1">
          <a:blip r:embed="rId4"/>
          <a:srcRect/>
          <a:stretch>
            <a:fillRect/>
          </a:stretch>
        </p:blipFill>
        <p:spPr>
          <a:xfrm>
            <a:off x="628650" y="2319188"/>
            <a:ext cx="2933700" cy="2933700"/>
          </a:xfrm>
          <a:prstGeom prst="rect">
            <a:avLst/>
          </a:prstGeom>
          <a:noFill/>
          <a:ln>
            <a:noFill/>
          </a:ln>
        </p:spPr>
      </p:pic>
      <p:sp>
        <p:nvSpPr>
          <p:cNvPr id="192" name="Google Shape;192;p20"/>
          <p:cNvSpPr txBox="1"/>
          <p:nvPr/>
        </p:nvSpPr>
        <p:spPr>
          <a:xfrm>
            <a:off x="6581775" y="2104132"/>
            <a:ext cx="498062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5" b="1" i="0" u="none" strike="noStrike" cap="none">
                <a:solidFill>
                  <a:srgbClr val="FFFFFF"/>
                </a:solidFill>
                <a:latin typeface="Public Sans"/>
                <a:ea typeface="Public Sans"/>
                <a:cs typeface="Public Sans"/>
                <a:sym typeface="Public Sans"/>
              </a:rPr>
              <a:t>Nhận diện Ý định &amp; Thực thể</a:t>
            </a:r>
            <a:endParaRPr lang="en-US" sz="1405" b="1" i="0" u="none" strike="noStrike" cap="none">
              <a:solidFill>
                <a:srgbClr val="FFFFFF"/>
              </a:solidFill>
              <a:latin typeface="Public Sans"/>
              <a:ea typeface="Public Sans"/>
              <a:cs typeface="Public Sans"/>
              <a:sym typeface="Public Sans"/>
            </a:endParaRPr>
          </a:p>
        </p:txBody>
      </p:sp>
      <p:sp>
        <p:nvSpPr>
          <p:cNvPr id="193" name="Google Shape;193;p20"/>
          <p:cNvSpPr txBox="1"/>
          <p:nvPr/>
        </p:nvSpPr>
        <p:spPr>
          <a:xfrm>
            <a:off x="6581775" y="2485132"/>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Intent Matching:</a:t>
            </a:r>
            <a:r>
              <a:rPr lang="en-US" sz="1350" b="0" i="0" u="none" strike="noStrike" cap="none">
                <a:solidFill>
                  <a:srgbClr val="E2E8F0"/>
                </a:solidFill>
                <a:latin typeface="Public Sans"/>
                <a:ea typeface="Public Sans"/>
                <a:cs typeface="Public Sans"/>
                <a:sym typeface="Public Sans"/>
              </a:rPr>
              <a:t> Xác định mục đích người dùng (tra cứu điểm, kiểm tra chuyên cần, thống kê cảnh báo rủi ro) bằng biểu thức chính quy tối ưu.</a:t>
            </a:r>
            <a:endParaRPr lang="en-US" sz="1350" b="0" i="0" u="none" strike="noStrike" cap="none">
              <a:solidFill>
                <a:srgbClr val="E2E8F0"/>
              </a:solidFill>
              <a:latin typeface="Public Sans"/>
              <a:ea typeface="Public Sans"/>
              <a:cs typeface="Public Sans"/>
              <a:sym typeface="Public Sans"/>
            </a:endParaRPr>
          </a:p>
        </p:txBody>
      </p:sp>
      <p:sp>
        <p:nvSpPr>
          <p:cNvPr id="194" name="Google Shape;194;p20"/>
          <p:cNvSpPr txBox="1"/>
          <p:nvPr/>
        </p:nvSpPr>
        <p:spPr>
          <a:xfrm>
            <a:off x="6581775" y="3479452"/>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Entity Extraction:</a:t>
            </a:r>
            <a:r>
              <a:rPr lang="en-US" sz="1350" b="0" i="0" u="none" strike="noStrike" cap="none">
                <a:solidFill>
                  <a:srgbClr val="E2E8F0"/>
                </a:solidFill>
                <a:latin typeface="Public Sans"/>
                <a:ea typeface="Public Sans"/>
                <a:cs typeface="Public Sans"/>
                <a:sym typeface="Public Sans"/>
              </a:rPr>
              <a:t> Trích xuất các thông tin ngữ cảnh quan trọng như Mã số sinh viên (MSSV), mã lớp học hoặc tên môn học.</a:t>
            </a:r>
            <a:endParaRPr lang="en-US" sz="1350" b="0" i="0" u="none" strike="noStrike" cap="none">
              <a:solidFill>
                <a:srgbClr val="E2E8F0"/>
              </a:solidFill>
              <a:latin typeface="Public Sans"/>
              <a:ea typeface="Public Sans"/>
              <a:cs typeface="Public Sans"/>
              <a:sym typeface="Public Sans"/>
            </a:endParaRPr>
          </a:p>
        </p:txBody>
      </p:sp>
      <p:sp>
        <p:nvSpPr>
          <p:cNvPr id="195" name="Google Shape;195;p20"/>
          <p:cNvSpPr txBox="1"/>
          <p:nvPr/>
        </p:nvSpPr>
        <p:spPr>
          <a:xfrm>
            <a:off x="6581775" y="4473773"/>
            <a:ext cx="47434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AI Fallback:</a:t>
            </a:r>
            <a:r>
              <a:rPr lang="en-US" sz="1350" b="0" i="0" u="none" strike="noStrike" cap="none">
                <a:solidFill>
                  <a:srgbClr val="E2E8F0"/>
                </a:solidFill>
                <a:latin typeface="Public Sans"/>
                <a:ea typeface="Public Sans"/>
                <a:cs typeface="Public Sans"/>
                <a:sym typeface="Public Sans"/>
              </a:rPr>
              <a:t> Tích hợp API Claude để tự động trả lời các câu hỏi phức tạp hoặc các hội thoại tự do ngoài bộ luật quy chuẩn.</a:t>
            </a:r>
            <a:endParaRPr lang="en-US" sz="1350" b="0" i="0" u="none" strike="noStrike" cap="none">
              <a:solidFill>
                <a:srgbClr val="E2E8F0"/>
              </a:solidFill>
              <a:latin typeface="Public Sans"/>
              <a:ea typeface="Public Sans"/>
              <a:cs typeface="Public Sans"/>
              <a:sym typeface="Public Sans"/>
            </a:endParaRPr>
          </a:p>
        </p:txBody>
      </p:sp>
      <p:sp>
        <p:nvSpPr>
          <p:cNvPr id="196" name="Google Shape;196;p20"/>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7" name="Google Shape;197;p20"/>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8" name="Google Shape;198;p20"/>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XỬ LÝ NGÔN NGỮ TỰ NHIÊN</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199" name="Google Shape;199;p20"/>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pic>
        <p:nvPicPr>
          <p:cNvPr id="204" name="Google Shape;204;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graphicFrame>
        <p:nvGraphicFramePr>
          <p:cNvPr id="205" name="Google Shape;205;p21"/>
          <p:cNvGraphicFramePr/>
          <p:nvPr/>
        </p:nvGraphicFramePr>
        <p:xfrm>
          <a:off x="571500" y="2319337"/>
          <a:ext cx="11039475" cy="3000000"/>
        </p:xfrm>
        <a:graphic>
          <a:graphicData uri="http://schemas.openxmlformats.org/drawingml/2006/table">
            <a:tbl>
              <a:tblPr firstRow="1" bandRow="1">
                <a:noFill/>
                <a:tableStyleId>{3DBC4A4F-36F8-4EC4-A165-28E59364F6DA}</a:tableStyleId>
              </a:tblPr>
              <a:tblGrid>
                <a:gridCol w="2219025"/>
                <a:gridCol w="3844825"/>
                <a:gridCol w="4975625"/>
              </a:tblGrid>
              <a:tr h="586750">
                <a:tc>
                  <a:txBody>
                    <a:bodyPr/>
                    <a:lstStyle/>
                    <a:p>
                      <a:pPr marL="0" marR="0" lvl="0" indent="0" algn="l" rtl="0">
                        <a:spcBef>
                          <a:spcPts val="0"/>
                        </a:spcBef>
                        <a:spcAft>
                          <a:spcPts val="0"/>
                        </a:spcAft>
                        <a:buNone/>
                      </a:pPr>
                      <a:r>
                        <a:rPr lang="en-US" sz="1350" b="1" i="0" u="none" strike="noStrike" cap="none">
                          <a:solidFill>
                            <a:srgbClr val="00FFD0"/>
                          </a:solidFill>
                          <a:latin typeface="Public Sans"/>
                          <a:ea typeface="Public Sans"/>
                          <a:cs typeface="Public Sans"/>
                          <a:sym typeface="Public Sans"/>
                        </a:rPr>
                        <a:t>Tác nhân (Actor)</a:t>
                      </a:r>
                      <a:endParaRPr lang="en-US" sz="1350" b="1" i="0" u="none" strike="noStrike" cap="none">
                        <a:solidFill>
                          <a:srgbClr val="00FFD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2B3E4"/>
                    </a:solidFill>
                  </a:tcPr>
                </a:tc>
                <a:tc>
                  <a:txBody>
                    <a:bodyPr/>
                    <a:lstStyle/>
                    <a:p>
                      <a:pPr marL="0" marR="0" lvl="0" indent="0" algn="l" rtl="0">
                        <a:spcBef>
                          <a:spcPts val="0"/>
                        </a:spcBef>
                        <a:spcAft>
                          <a:spcPts val="0"/>
                        </a:spcAft>
                        <a:buNone/>
                      </a:pPr>
                      <a:r>
                        <a:rPr lang="en-US" sz="1350" b="1" i="0" u="none" strike="noStrike" cap="none">
                          <a:solidFill>
                            <a:srgbClr val="00FFD0"/>
                          </a:solidFill>
                          <a:latin typeface="Public Sans"/>
                          <a:ea typeface="Public Sans"/>
                          <a:cs typeface="Public Sans"/>
                          <a:sym typeface="Public Sans"/>
                        </a:rPr>
                        <a:t>Vai trò chính trên hệ thống</a:t>
                      </a:r>
                      <a:endParaRPr lang="en-US" sz="1350" b="1" i="0" u="none" strike="noStrike" cap="none">
                        <a:solidFill>
                          <a:srgbClr val="00FFD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2B3E4"/>
                    </a:solidFill>
                  </a:tcPr>
                </a:tc>
                <a:tc>
                  <a:txBody>
                    <a:bodyPr/>
                    <a:lstStyle/>
                    <a:p>
                      <a:pPr marL="0" marR="0" lvl="0" indent="0" algn="l" rtl="0">
                        <a:spcBef>
                          <a:spcPts val="0"/>
                        </a:spcBef>
                        <a:spcAft>
                          <a:spcPts val="0"/>
                        </a:spcAft>
                        <a:buNone/>
                      </a:pPr>
                      <a:r>
                        <a:rPr lang="en-US" sz="1350" b="1" i="0" u="none" strike="noStrike" cap="none">
                          <a:solidFill>
                            <a:srgbClr val="00FFD0"/>
                          </a:solidFill>
                          <a:latin typeface="Public Sans"/>
                          <a:ea typeface="Public Sans"/>
                          <a:cs typeface="Public Sans"/>
                          <a:sym typeface="Public Sans"/>
                        </a:rPr>
                        <a:t>Quyền lợi &amp; Chức năng tiêu biểu</a:t>
                      </a:r>
                      <a:endParaRPr lang="en-US" sz="1350" b="1" i="0" u="none" strike="noStrike" cap="none">
                        <a:solidFill>
                          <a:srgbClr val="00FFD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2B3E4"/>
                    </a:solidFill>
                  </a:tcPr>
                </a:tc>
              </a:tr>
              <a:tr h="586750">
                <a:tc>
                  <a:txBody>
                    <a:bodyPr/>
                    <a:lstStyle/>
                    <a:p>
                      <a:pPr marL="0" marR="0" lvl="0" indent="0" algn="l" rtl="0">
                        <a:spcBef>
                          <a:spcPts val="0"/>
                        </a:spcBef>
                        <a:spcAft>
                          <a:spcPts val="0"/>
                        </a:spcAft>
                        <a:buNone/>
                      </a:pPr>
                      <a:r>
                        <a:rPr lang="en-US" sz="1275" b="1" i="0" u="none" strike="noStrike" cap="none">
                          <a:solidFill>
                            <a:srgbClr val="E2E8F0"/>
                          </a:solidFill>
                          <a:latin typeface="Public Sans"/>
                          <a:ea typeface="Public Sans"/>
                          <a:cs typeface="Public Sans"/>
                          <a:sym typeface="Public Sans"/>
                        </a:rPr>
                        <a:t>Giảng viên (Lecturer)</a:t>
                      </a:r>
                      <a:endParaRPr lang="en-US" sz="1275" b="1"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Theo dõi tiến độ lớp, giám sát chuyên cần</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Lọc sinh viên rủi ro, gửi nhắc nhở, xác nhận cảnh báo</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r>
              <a:tr h="586750">
                <a:tc>
                  <a:txBody>
                    <a:bodyPr/>
                    <a:lstStyle/>
                    <a:p>
                      <a:pPr marL="0" marR="0" lvl="0" indent="0" algn="l" rtl="0">
                        <a:spcBef>
                          <a:spcPts val="0"/>
                        </a:spcBef>
                        <a:spcAft>
                          <a:spcPts val="0"/>
                        </a:spcAft>
                        <a:buNone/>
                      </a:pPr>
                      <a:r>
                        <a:rPr lang="en-US" sz="1275" b="1" i="0" u="none" strike="noStrike" cap="none">
                          <a:solidFill>
                            <a:srgbClr val="E2E8F0"/>
                          </a:solidFill>
                          <a:latin typeface="Public Sans"/>
                          <a:ea typeface="Public Sans"/>
                          <a:cs typeface="Public Sans"/>
                          <a:sym typeface="Public Sans"/>
                        </a:rPr>
                        <a:t>Sinh viên (Student)</a:t>
                      </a:r>
                      <a:endParaRPr lang="en-US" sz="1275" b="1"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Theo dõi tiến độ, tự kiểm tra rủi ro cá nhân</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Xem bảng điểm, nhận gợi ý cải thiện kết quả học tập</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r>
              <a:tr h="586750">
                <a:tc>
                  <a:txBody>
                    <a:bodyPr/>
                    <a:lstStyle/>
                    <a:p>
                      <a:pPr marL="0" marR="0" lvl="0" indent="0" algn="l" rtl="0">
                        <a:spcBef>
                          <a:spcPts val="0"/>
                        </a:spcBef>
                        <a:spcAft>
                          <a:spcPts val="0"/>
                        </a:spcAft>
                        <a:buNone/>
                      </a:pPr>
                      <a:r>
                        <a:rPr lang="en-US" sz="1275" b="1" i="0" u="none" strike="noStrike" cap="none">
                          <a:solidFill>
                            <a:srgbClr val="E2E8F0"/>
                          </a:solidFill>
                          <a:latin typeface="Public Sans"/>
                          <a:ea typeface="Public Sans"/>
                          <a:cs typeface="Public Sans"/>
                          <a:sym typeface="Public Sans"/>
                        </a:rPr>
                        <a:t>Cố vấn học tập (Advisor)</a:t>
                      </a:r>
                      <a:endParaRPr lang="en-US" sz="1275" b="1"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Theo dõi tổng quát các lớp chủ nhiệm phụ trách</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Nhận báo cáo thống kê, rà soát sinh viên ngừng truy cập</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r>
              <a:tr h="586750">
                <a:tc>
                  <a:txBody>
                    <a:bodyPr/>
                    <a:lstStyle/>
                    <a:p>
                      <a:pPr marL="0" marR="0" lvl="0" indent="0" algn="l" rtl="0">
                        <a:spcBef>
                          <a:spcPts val="0"/>
                        </a:spcBef>
                        <a:spcAft>
                          <a:spcPts val="0"/>
                        </a:spcAft>
                        <a:buNone/>
                      </a:pPr>
                      <a:r>
                        <a:rPr lang="en-US" sz="1275" b="1" i="0" u="none" strike="noStrike" cap="none">
                          <a:solidFill>
                            <a:srgbClr val="E2E8F0"/>
                          </a:solidFill>
                          <a:latin typeface="Public Sans"/>
                          <a:ea typeface="Public Sans"/>
                          <a:cs typeface="Public Sans"/>
                          <a:sym typeface="Public Sans"/>
                        </a:rPr>
                        <a:t>Quản trị viên (Admin)</a:t>
                      </a:r>
                      <a:endParaRPr lang="en-US" sz="1275" b="1"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Cấu hình và duy trì hệ thống chatbot</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E2E8F0"/>
                          </a:solidFill>
                          <a:latin typeface="Public Sans"/>
                          <a:ea typeface="Public Sans"/>
                          <a:cs typeface="Public Sans"/>
                          <a:sym typeface="Public Sans"/>
                        </a:rPr>
                        <a:t>Quản lý tài khoản, điều chỉnh ngưỡng cảnh báo, đồng bộ dữ liệu</a:t>
                      </a:r>
                      <a:endParaRPr lang="en-US" sz="1275" b="0" i="0" u="none" strike="noStrike" cap="none">
                        <a:solidFill>
                          <a:srgbClr val="E2E8F0"/>
                        </a:solidFill>
                        <a:latin typeface="Public Sans"/>
                        <a:ea typeface="Public Sans"/>
                        <a:cs typeface="Public Sans"/>
                        <a:sym typeface="Public Sans"/>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r>
            </a:tbl>
          </a:graphicData>
        </a:graphic>
      </p:graphicFrame>
      <p:sp>
        <p:nvSpPr>
          <p:cNvPr id="206" name="Google Shape;206;p21"/>
          <p:cNvSpPr/>
          <p:nvPr/>
        </p:nvSpPr>
        <p:spPr>
          <a:xfrm>
            <a:off x="576262" y="2824162"/>
            <a:ext cx="2219027" cy="1905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7" name="Google Shape;207;p21"/>
          <p:cNvSpPr/>
          <p:nvPr/>
        </p:nvSpPr>
        <p:spPr>
          <a:xfrm>
            <a:off x="2795289" y="2824162"/>
            <a:ext cx="3844825" cy="1905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8" name="Google Shape;208;p21"/>
          <p:cNvSpPr/>
          <p:nvPr/>
        </p:nvSpPr>
        <p:spPr>
          <a:xfrm>
            <a:off x="6640115" y="2824162"/>
            <a:ext cx="4975621" cy="1905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9" name="Google Shape;209;p21"/>
          <p:cNvSpPr/>
          <p:nvPr/>
        </p:nvSpPr>
        <p:spPr>
          <a:xfrm>
            <a:off x="576262" y="3343275"/>
            <a:ext cx="221902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0" name="Google Shape;210;p21"/>
          <p:cNvSpPr/>
          <p:nvPr/>
        </p:nvSpPr>
        <p:spPr>
          <a:xfrm>
            <a:off x="2795289" y="3343275"/>
            <a:ext cx="3844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1" name="Google Shape;211;p21"/>
          <p:cNvSpPr/>
          <p:nvPr/>
        </p:nvSpPr>
        <p:spPr>
          <a:xfrm>
            <a:off x="6640115" y="3343275"/>
            <a:ext cx="49756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2" name="Google Shape;212;p21"/>
          <p:cNvSpPr/>
          <p:nvPr/>
        </p:nvSpPr>
        <p:spPr>
          <a:xfrm>
            <a:off x="576262" y="3848100"/>
            <a:ext cx="221902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3" name="Google Shape;213;p21"/>
          <p:cNvSpPr/>
          <p:nvPr/>
        </p:nvSpPr>
        <p:spPr>
          <a:xfrm>
            <a:off x="2795289" y="3848100"/>
            <a:ext cx="3844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4" name="Google Shape;214;p21"/>
          <p:cNvSpPr/>
          <p:nvPr/>
        </p:nvSpPr>
        <p:spPr>
          <a:xfrm>
            <a:off x="6640115" y="3848100"/>
            <a:ext cx="49756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5" name="Google Shape;215;p21"/>
          <p:cNvSpPr/>
          <p:nvPr/>
        </p:nvSpPr>
        <p:spPr>
          <a:xfrm>
            <a:off x="576262" y="4543425"/>
            <a:ext cx="221902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6" name="Google Shape;216;p21"/>
          <p:cNvSpPr/>
          <p:nvPr/>
        </p:nvSpPr>
        <p:spPr>
          <a:xfrm>
            <a:off x="2795289" y="4543425"/>
            <a:ext cx="38448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7" name="Google Shape;217;p21"/>
          <p:cNvSpPr/>
          <p:nvPr/>
        </p:nvSpPr>
        <p:spPr>
          <a:xfrm>
            <a:off x="6640115" y="4543425"/>
            <a:ext cx="497562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8" name="Google Shape;218;p21"/>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9" name="Google Shape;219;p21"/>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0" name="Google Shape;220;p21"/>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TÁC NHÂN SỬ DỤNG HỆ THỐNG</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221" name="Google Shape;221;p21"/>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pic>
        <p:nvPicPr>
          <p:cNvPr id="226" name="Google Shape;226;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7" name="Google Shape;227;p22" descr="image.png"/>
          <p:cNvPicPr preferRelativeResize="0"/>
          <p:nvPr/>
        </p:nvPicPr>
        <p:blipFill rotWithShape="1">
          <a:blip r:embed="rId2"/>
          <a:srcRect/>
          <a:stretch>
            <a:fillRect/>
          </a:stretch>
        </p:blipFill>
        <p:spPr>
          <a:xfrm>
            <a:off x="571500" y="2213669"/>
            <a:ext cx="3524250" cy="3145035"/>
          </a:xfrm>
          <a:prstGeom prst="rect">
            <a:avLst/>
          </a:prstGeom>
          <a:noFill/>
          <a:ln>
            <a:noFill/>
          </a:ln>
        </p:spPr>
      </p:pic>
      <p:pic>
        <p:nvPicPr>
          <p:cNvPr id="228" name="Google Shape;228;p22" descr="image.png"/>
          <p:cNvPicPr preferRelativeResize="0"/>
          <p:nvPr/>
        </p:nvPicPr>
        <p:blipFill rotWithShape="1">
          <a:blip r:embed="rId2"/>
          <a:srcRect/>
          <a:stretch>
            <a:fillRect/>
          </a:stretch>
        </p:blipFill>
        <p:spPr>
          <a:xfrm>
            <a:off x="4333875" y="2213669"/>
            <a:ext cx="3524250" cy="3145035"/>
          </a:xfrm>
          <a:prstGeom prst="rect">
            <a:avLst/>
          </a:prstGeom>
          <a:noFill/>
          <a:ln>
            <a:noFill/>
          </a:ln>
        </p:spPr>
      </p:pic>
      <p:pic>
        <p:nvPicPr>
          <p:cNvPr id="229" name="Google Shape;229;p22" descr="image.png"/>
          <p:cNvPicPr preferRelativeResize="0"/>
          <p:nvPr/>
        </p:nvPicPr>
        <p:blipFill rotWithShape="1">
          <a:blip r:embed="rId2"/>
          <a:srcRect/>
          <a:stretch>
            <a:fillRect/>
          </a:stretch>
        </p:blipFill>
        <p:spPr>
          <a:xfrm>
            <a:off x="8096250" y="2213669"/>
            <a:ext cx="3524250" cy="3145035"/>
          </a:xfrm>
          <a:prstGeom prst="rect">
            <a:avLst/>
          </a:prstGeom>
          <a:noFill/>
          <a:ln>
            <a:noFill/>
          </a:ln>
        </p:spPr>
      </p:pic>
      <p:sp>
        <p:nvSpPr>
          <p:cNvPr id="230" name="Google Shape;230;p22"/>
          <p:cNvSpPr txBox="1"/>
          <p:nvPr/>
        </p:nvSpPr>
        <p:spPr>
          <a:xfrm>
            <a:off x="866775"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Tầng giao diện (Client)</a:t>
            </a:r>
            <a:endParaRPr lang="en-US" sz="1650" b="1" i="0" u="none" strike="noStrike" cap="none">
              <a:solidFill>
                <a:srgbClr val="00E5FF"/>
              </a:solidFill>
              <a:latin typeface="Public Sans"/>
              <a:ea typeface="Public Sans"/>
              <a:cs typeface="Public Sans"/>
              <a:sym typeface="Public Sans"/>
            </a:endParaRPr>
          </a:p>
        </p:txBody>
      </p:sp>
      <p:sp>
        <p:nvSpPr>
          <p:cNvPr id="231" name="Google Shape;231;p22"/>
          <p:cNvSpPr txBox="1"/>
          <p:nvPr/>
        </p:nvSpPr>
        <p:spPr>
          <a:xfrm>
            <a:off x="866775"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Web Widget được nhúng trực tiếp dạng plugin trên giao diện Moodle LMS hoặc ứng dụng Dashboard độc lập bằng HTML/JS thuần cực kỳ nhẹ.</a:t>
            </a:r>
            <a:endParaRPr lang="en-US" sz="1350" b="0" i="0" u="none" strike="noStrike" cap="none">
              <a:solidFill>
                <a:srgbClr val="E2E8F0"/>
              </a:solidFill>
              <a:latin typeface="Public Sans"/>
              <a:ea typeface="Public Sans"/>
              <a:cs typeface="Public Sans"/>
              <a:sym typeface="Public Sans"/>
            </a:endParaRPr>
          </a:p>
        </p:txBody>
      </p:sp>
      <p:sp>
        <p:nvSpPr>
          <p:cNvPr id="232" name="Google Shape;232;p22"/>
          <p:cNvSpPr txBox="1"/>
          <p:nvPr/>
        </p:nvSpPr>
        <p:spPr>
          <a:xfrm>
            <a:off x="4629150"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Tầng nghiệp vụ (Backend)</a:t>
            </a:r>
            <a:endParaRPr lang="en-US" sz="1650" b="1" i="0" u="none" strike="noStrike" cap="none">
              <a:solidFill>
                <a:srgbClr val="00E5FF"/>
              </a:solidFill>
              <a:latin typeface="Public Sans"/>
              <a:ea typeface="Public Sans"/>
              <a:cs typeface="Public Sans"/>
              <a:sym typeface="Public Sans"/>
            </a:endParaRPr>
          </a:p>
        </p:txBody>
      </p:sp>
      <p:sp>
        <p:nvSpPr>
          <p:cNvPr id="233" name="Google Shape;233;p22"/>
          <p:cNvSpPr txBox="1"/>
          <p:nvPr/>
        </p:nvSpPr>
        <p:spPr>
          <a:xfrm>
            <a:off x="4629150"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Xây dựng bằng Java 17 và Spring Boot 3.2.5. Xử lý các nghiệp vụ cốt lõi: phân tích cảnh báo học tập, xác thực JWT và quản lý API REST.</a:t>
            </a:r>
            <a:endParaRPr lang="en-US" sz="1350" b="0" i="0" u="none" strike="noStrike" cap="none">
              <a:solidFill>
                <a:srgbClr val="E2E8F0"/>
              </a:solidFill>
              <a:latin typeface="Public Sans"/>
              <a:ea typeface="Public Sans"/>
              <a:cs typeface="Public Sans"/>
              <a:sym typeface="Public Sans"/>
            </a:endParaRPr>
          </a:p>
        </p:txBody>
      </p:sp>
      <p:sp>
        <p:nvSpPr>
          <p:cNvPr id="234" name="Google Shape;234;p22"/>
          <p:cNvSpPr txBox="1"/>
          <p:nvPr/>
        </p:nvSpPr>
        <p:spPr>
          <a:xfrm>
            <a:off x="8391525"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Tầng tích hợp dữ liệu</a:t>
            </a:r>
            <a:endParaRPr lang="en-US" sz="1650" b="1" i="0" u="none" strike="noStrike" cap="none">
              <a:solidFill>
                <a:srgbClr val="00E5FF"/>
              </a:solidFill>
              <a:latin typeface="Public Sans"/>
              <a:ea typeface="Public Sans"/>
              <a:cs typeface="Public Sans"/>
              <a:sym typeface="Public Sans"/>
            </a:endParaRPr>
          </a:p>
        </p:txBody>
      </p:sp>
      <p:sp>
        <p:nvSpPr>
          <p:cNvPr id="235" name="Google Shape;235;p22"/>
          <p:cNvSpPr txBox="1"/>
          <p:nvPr/>
        </p:nvSpPr>
        <p:spPr>
          <a:xfrm>
            <a:off x="8391525"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Lưu trữ an toàn qua cơ sở dữ liệu MySQL. Kết nối đồng bộ hai chiều với Moodle Database qua REST Web Services và tích hợp API Claude.</a:t>
            </a:r>
            <a:endParaRPr lang="en-US" sz="1350" b="0" i="0" u="none" strike="noStrike" cap="none">
              <a:solidFill>
                <a:srgbClr val="E2E8F0"/>
              </a:solidFill>
              <a:latin typeface="Public Sans"/>
              <a:ea typeface="Public Sans"/>
              <a:cs typeface="Public Sans"/>
              <a:sym typeface="Public Sans"/>
            </a:endParaRPr>
          </a:p>
        </p:txBody>
      </p:sp>
      <p:pic>
        <p:nvPicPr>
          <p:cNvPr id="236" name="Google Shape;236;p22" descr="image.png"/>
          <p:cNvPicPr preferRelativeResize="0"/>
          <p:nvPr/>
        </p:nvPicPr>
        <p:blipFill rotWithShape="1">
          <a:blip r:embed="rId3"/>
          <a:srcRect/>
          <a:stretch>
            <a:fillRect/>
          </a:stretch>
        </p:blipFill>
        <p:spPr>
          <a:xfrm>
            <a:off x="866775" y="2585144"/>
            <a:ext cx="476250" cy="419100"/>
          </a:xfrm>
          <a:prstGeom prst="rect">
            <a:avLst/>
          </a:prstGeom>
          <a:noFill/>
          <a:ln>
            <a:noFill/>
          </a:ln>
        </p:spPr>
      </p:pic>
      <p:pic>
        <p:nvPicPr>
          <p:cNvPr id="237" name="Google Shape;237;p22" descr="image.png"/>
          <p:cNvPicPr preferRelativeResize="0"/>
          <p:nvPr/>
        </p:nvPicPr>
        <p:blipFill rotWithShape="1">
          <a:blip r:embed="rId4"/>
          <a:srcRect/>
          <a:stretch>
            <a:fillRect/>
          </a:stretch>
        </p:blipFill>
        <p:spPr>
          <a:xfrm>
            <a:off x="4629150" y="2585144"/>
            <a:ext cx="419100" cy="419100"/>
          </a:xfrm>
          <a:prstGeom prst="rect">
            <a:avLst/>
          </a:prstGeom>
          <a:noFill/>
          <a:ln>
            <a:noFill/>
          </a:ln>
        </p:spPr>
      </p:pic>
      <p:pic>
        <p:nvPicPr>
          <p:cNvPr id="238" name="Google Shape;238;p22" descr="image.png"/>
          <p:cNvPicPr preferRelativeResize="0"/>
          <p:nvPr/>
        </p:nvPicPr>
        <p:blipFill rotWithShape="1">
          <a:blip r:embed="rId5"/>
          <a:srcRect/>
          <a:stretch>
            <a:fillRect/>
          </a:stretch>
        </p:blipFill>
        <p:spPr>
          <a:xfrm>
            <a:off x="8391525" y="2585144"/>
            <a:ext cx="371475" cy="419100"/>
          </a:xfrm>
          <a:prstGeom prst="rect">
            <a:avLst/>
          </a:prstGeom>
          <a:noFill/>
          <a:ln>
            <a:noFill/>
          </a:ln>
        </p:spPr>
      </p:pic>
      <p:sp>
        <p:nvSpPr>
          <p:cNvPr id="239" name="Google Shape;239;p22"/>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0" name="Google Shape;240;p22"/>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1" name="Google Shape;241;p22"/>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KIẾN TRÚC HỆ THỐNG TỔNG THỂ</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242" name="Google Shape;242;p22"/>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pic>
        <p:nvPicPr>
          <p:cNvPr id="247" name="Google Shape;247;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48" name="Google Shape;248;p23" descr="image.png"/>
          <p:cNvPicPr preferRelativeResize="0"/>
          <p:nvPr/>
        </p:nvPicPr>
        <p:blipFill rotWithShape="1">
          <a:blip r:embed="rId2"/>
          <a:srcRect/>
          <a:stretch>
            <a:fillRect/>
          </a:stretch>
        </p:blipFill>
        <p:spPr>
          <a:xfrm>
            <a:off x="571500" y="4071937"/>
            <a:ext cx="2762250" cy="1443930"/>
          </a:xfrm>
          <a:prstGeom prst="rect">
            <a:avLst/>
          </a:prstGeom>
          <a:noFill/>
          <a:ln>
            <a:noFill/>
          </a:ln>
        </p:spPr>
      </p:pic>
      <p:pic>
        <p:nvPicPr>
          <p:cNvPr id="249" name="Google Shape;249;p23" descr="image.png"/>
          <p:cNvPicPr preferRelativeResize="0"/>
          <p:nvPr/>
        </p:nvPicPr>
        <p:blipFill rotWithShape="1">
          <a:blip r:embed="rId3"/>
          <a:srcRect/>
          <a:stretch>
            <a:fillRect/>
          </a:stretch>
        </p:blipFill>
        <p:spPr>
          <a:xfrm>
            <a:off x="3333750" y="2056507"/>
            <a:ext cx="2762250" cy="1443930"/>
          </a:xfrm>
          <a:prstGeom prst="rect">
            <a:avLst/>
          </a:prstGeom>
          <a:noFill/>
          <a:ln>
            <a:noFill/>
          </a:ln>
        </p:spPr>
      </p:pic>
      <p:pic>
        <p:nvPicPr>
          <p:cNvPr id="250" name="Google Shape;250;p23" descr="image.png"/>
          <p:cNvPicPr preferRelativeResize="0"/>
          <p:nvPr/>
        </p:nvPicPr>
        <p:blipFill rotWithShape="1">
          <a:blip r:embed="rId2"/>
          <a:srcRect/>
          <a:stretch>
            <a:fillRect/>
          </a:stretch>
        </p:blipFill>
        <p:spPr>
          <a:xfrm>
            <a:off x="6096000" y="4071937"/>
            <a:ext cx="2762250" cy="1443930"/>
          </a:xfrm>
          <a:prstGeom prst="rect">
            <a:avLst/>
          </a:prstGeom>
          <a:noFill/>
          <a:ln>
            <a:noFill/>
          </a:ln>
        </p:spPr>
      </p:pic>
      <p:pic>
        <p:nvPicPr>
          <p:cNvPr id="251" name="Google Shape;251;p23" descr="image.png"/>
          <p:cNvPicPr preferRelativeResize="0"/>
          <p:nvPr/>
        </p:nvPicPr>
        <p:blipFill rotWithShape="1">
          <a:blip r:embed="rId3"/>
          <a:srcRect/>
          <a:stretch>
            <a:fillRect/>
          </a:stretch>
        </p:blipFill>
        <p:spPr>
          <a:xfrm>
            <a:off x="8858250" y="2056507"/>
            <a:ext cx="2762250" cy="1443930"/>
          </a:xfrm>
          <a:prstGeom prst="rect">
            <a:avLst/>
          </a:prstGeom>
          <a:noFill/>
          <a:ln>
            <a:noFill/>
          </a:ln>
        </p:spPr>
      </p:pic>
      <p:sp>
        <p:nvSpPr>
          <p:cNvPr id="252" name="Google Shape;252;p23"/>
          <p:cNvSpPr txBox="1"/>
          <p:nvPr/>
        </p:nvSpPr>
        <p:spPr>
          <a:xfrm>
            <a:off x="662463" y="4224337"/>
            <a:ext cx="2580322"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Bước 1: Kết nối</a:t>
            </a:r>
            <a:endParaRPr lang="en-US" sz="1650" b="1" i="0" u="none" strike="noStrike" cap="none">
              <a:solidFill>
                <a:srgbClr val="00E5FF"/>
              </a:solidFill>
              <a:latin typeface="Public Sans"/>
              <a:ea typeface="Public Sans"/>
              <a:cs typeface="Public Sans"/>
              <a:sym typeface="Public Sans"/>
            </a:endParaRPr>
          </a:p>
        </p:txBody>
      </p:sp>
      <p:sp>
        <p:nvSpPr>
          <p:cNvPr id="253" name="Google Shape;253;p23"/>
          <p:cNvSpPr txBox="1"/>
          <p:nvPr/>
        </p:nvSpPr>
        <p:spPr>
          <a:xfrm>
            <a:off x="723900" y="4643437"/>
            <a:ext cx="245745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Khởi tạo kết nối bảo mật bằng Token định dạng sẵn.</a:t>
            </a:r>
            <a:endParaRPr lang="en-US" sz="1350" b="0" i="0" u="none" strike="noStrike" cap="none">
              <a:solidFill>
                <a:srgbClr val="E2E8F0"/>
              </a:solidFill>
              <a:latin typeface="Public Sans"/>
              <a:ea typeface="Public Sans"/>
              <a:cs typeface="Public Sans"/>
              <a:sym typeface="Public Sans"/>
            </a:endParaRPr>
          </a:p>
        </p:txBody>
      </p:sp>
      <p:sp>
        <p:nvSpPr>
          <p:cNvPr id="254" name="Google Shape;254;p23"/>
          <p:cNvSpPr txBox="1"/>
          <p:nvPr/>
        </p:nvSpPr>
        <p:spPr>
          <a:xfrm>
            <a:off x="3424713" y="2208907"/>
            <a:ext cx="2580322"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Bước 2: Lấy dữ liệu</a:t>
            </a:r>
            <a:endParaRPr lang="en-US" sz="1650" b="1" i="0" u="none" strike="noStrike" cap="none">
              <a:solidFill>
                <a:srgbClr val="00E5FF"/>
              </a:solidFill>
              <a:latin typeface="Public Sans"/>
              <a:ea typeface="Public Sans"/>
              <a:cs typeface="Public Sans"/>
              <a:sym typeface="Public Sans"/>
            </a:endParaRPr>
          </a:p>
        </p:txBody>
      </p:sp>
      <p:sp>
        <p:nvSpPr>
          <p:cNvPr id="255" name="Google Shape;255;p23"/>
          <p:cNvSpPr txBox="1"/>
          <p:nvPr/>
        </p:nvSpPr>
        <p:spPr>
          <a:xfrm>
            <a:off x="3486150" y="2628007"/>
            <a:ext cx="245745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Truy xuất danh sách khóa học, tài khoản và đầu điểm.</a:t>
            </a:r>
            <a:endParaRPr lang="en-US" sz="1350" b="0" i="0" u="none" strike="noStrike" cap="none">
              <a:solidFill>
                <a:srgbClr val="E2E8F0"/>
              </a:solidFill>
              <a:latin typeface="Public Sans"/>
              <a:ea typeface="Public Sans"/>
              <a:cs typeface="Public Sans"/>
              <a:sym typeface="Public Sans"/>
            </a:endParaRPr>
          </a:p>
        </p:txBody>
      </p:sp>
      <p:sp>
        <p:nvSpPr>
          <p:cNvPr id="256" name="Google Shape;256;p23"/>
          <p:cNvSpPr txBox="1"/>
          <p:nvPr/>
        </p:nvSpPr>
        <p:spPr>
          <a:xfrm>
            <a:off x="6186963" y="4224337"/>
            <a:ext cx="2580322"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Bước 3: Đồng bộ</a:t>
            </a:r>
            <a:endParaRPr lang="en-US" sz="1650" b="1" i="0" u="none" strike="noStrike" cap="none">
              <a:solidFill>
                <a:srgbClr val="00E5FF"/>
              </a:solidFill>
              <a:latin typeface="Public Sans"/>
              <a:ea typeface="Public Sans"/>
              <a:cs typeface="Public Sans"/>
              <a:sym typeface="Public Sans"/>
            </a:endParaRPr>
          </a:p>
        </p:txBody>
      </p:sp>
      <p:sp>
        <p:nvSpPr>
          <p:cNvPr id="257" name="Google Shape;257;p23"/>
          <p:cNvSpPr txBox="1"/>
          <p:nvPr/>
        </p:nvSpPr>
        <p:spPr>
          <a:xfrm>
            <a:off x="6248400" y="4643437"/>
            <a:ext cx="245745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Ghi nhận điểm số của sinh viên vào cơ sở dữ liệu nội bộ.</a:t>
            </a:r>
            <a:endParaRPr lang="en-US" sz="1350" b="0" i="0" u="none" strike="noStrike" cap="none">
              <a:solidFill>
                <a:srgbClr val="E2E8F0"/>
              </a:solidFill>
              <a:latin typeface="Public Sans"/>
              <a:ea typeface="Public Sans"/>
              <a:cs typeface="Public Sans"/>
              <a:sym typeface="Public Sans"/>
            </a:endParaRPr>
          </a:p>
        </p:txBody>
      </p:sp>
      <p:sp>
        <p:nvSpPr>
          <p:cNvPr id="258" name="Google Shape;258;p23"/>
          <p:cNvSpPr txBox="1"/>
          <p:nvPr/>
        </p:nvSpPr>
        <p:spPr>
          <a:xfrm>
            <a:off x="8949213" y="2208907"/>
            <a:ext cx="2580322" cy="247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Bước 4: Cập nhật</a:t>
            </a:r>
            <a:endParaRPr lang="en-US" sz="1650" b="1" i="0" u="none" strike="noStrike" cap="none">
              <a:solidFill>
                <a:srgbClr val="00E5FF"/>
              </a:solidFill>
              <a:latin typeface="Public Sans"/>
              <a:ea typeface="Public Sans"/>
              <a:cs typeface="Public Sans"/>
              <a:sym typeface="Public Sans"/>
            </a:endParaRPr>
          </a:p>
        </p:txBody>
      </p:sp>
      <p:sp>
        <p:nvSpPr>
          <p:cNvPr id="259" name="Google Shape;259;p23"/>
          <p:cNvSpPr txBox="1"/>
          <p:nvPr/>
        </p:nvSpPr>
        <p:spPr>
          <a:xfrm>
            <a:off x="9010650" y="2628007"/>
            <a:ext cx="2457450" cy="5485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Lưu logs chuyên cần, tỷ lệ nộp bài và mốc thời gian.</a:t>
            </a:r>
            <a:endParaRPr lang="en-US" sz="1350" b="0" i="0" u="none" strike="noStrike" cap="none">
              <a:solidFill>
                <a:srgbClr val="E2E8F0"/>
              </a:solidFill>
              <a:latin typeface="Public Sans"/>
              <a:ea typeface="Public Sans"/>
              <a:cs typeface="Public Sans"/>
              <a:sym typeface="Public Sans"/>
            </a:endParaRPr>
          </a:p>
        </p:txBody>
      </p:sp>
      <p:sp>
        <p:nvSpPr>
          <p:cNvPr id="260" name="Google Shape;260;p23"/>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1" name="Google Shape;261;p23"/>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2" name="Google Shape;262;p23"/>
          <p:cNvSpPr/>
          <p:nvPr/>
        </p:nvSpPr>
        <p:spPr>
          <a:xfrm>
            <a:off x="571500" y="3767137"/>
            <a:ext cx="11049000" cy="3810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3" name="Google Shape;263;p23"/>
          <p:cNvSpPr/>
          <p:nvPr/>
        </p:nvSpPr>
        <p:spPr>
          <a:xfrm>
            <a:off x="1838325" y="3671887"/>
            <a:ext cx="228600" cy="228600"/>
          </a:xfrm>
          <a:prstGeom prst="roundRect">
            <a:avLst>
              <a:gd name="adj" fmla="val 50000"/>
            </a:avLst>
          </a:prstGeom>
          <a:solidFill>
            <a:srgbClr val="08203E"/>
          </a:solidFill>
          <a:ln w="38100" cap="flat" cmpd="sng">
            <a:solidFill>
              <a:srgbClr val="00FFD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4" name="Google Shape;264;p23"/>
          <p:cNvSpPr/>
          <p:nvPr/>
        </p:nvSpPr>
        <p:spPr>
          <a:xfrm>
            <a:off x="4600575" y="3671887"/>
            <a:ext cx="228600" cy="228600"/>
          </a:xfrm>
          <a:prstGeom prst="roundRect">
            <a:avLst>
              <a:gd name="adj" fmla="val 50000"/>
            </a:avLst>
          </a:prstGeom>
          <a:solidFill>
            <a:srgbClr val="08203E"/>
          </a:solidFill>
          <a:ln w="38100" cap="flat" cmpd="sng">
            <a:solidFill>
              <a:srgbClr val="00FFD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5" name="Google Shape;265;p23"/>
          <p:cNvSpPr/>
          <p:nvPr/>
        </p:nvSpPr>
        <p:spPr>
          <a:xfrm>
            <a:off x="7362825" y="3671887"/>
            <a:ext cx="228600" cy="228600"/>
          </a:xfrm>
          <a:prstGeom prst="roundRect">
            <a:avLst>
              <a:gd name="adj" fmla="val 50000"/>
            </a:avLst>
          </a:prstGeom>
          <a:solidFill>
            <a:srgbClr val="08203E"/>
          </a:solidFill>
          <a:ln w="38100" cap="flat" cmpd="sng">
            <a:solidFill>
              <a:srgbClr val="00FFD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6" name="Google Shape;266;p23"/>
          <p:cNvSpPr/>
          <p:nvPr/>
        </p:nvSpPr>
        <p:spPr>
          <a:xfrm>
            <a:off x="10125075" y="3671887"/>
            <a:ext cx="228600" cy="228600"/>
          </a:xfrm>
          <a:prstGeom prst="roundRect">
            <a:avLst>
              <a:gd name="adj" fmla="val 50000"/>
            </a:avLst>
          </a:prstGeom>
          <a:solidFill>
            <a:srgbClr val="08203E"/>
          </a:solidFill>
          <a:ln w="38100" cap="flat" cmpd="sng">
            <a:solidFill>
              <a:srgbClr val="00FFD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67" name="Google Shape;267;p23"/>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LUỒNG ĐỒNG BỘ DỮ LIỆU MOODLE</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268" name="Google Shape;268;p23"/>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72" name="Shape 272"/>
        <p:cNvGrpSpPr/>
        <p:nvPr/>
      </p:nvGrpSpPr>
      <p:grpSpPr>
        <a:xfrm>
          <a:off x="0" y="0"/>
          <a:ext cx="0" cy="0"/>
          <a:chOff x="0" y="0"/>
          <a:chExt cx="0" cy="0"/>
        </a:xfrm>
      </p:grpSpPr>
      <p:pic>
        <p:nvPicPr>
          <p:cNvPr id="273" name="Google Shape;273;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74" name="Google Shape;274;p24" descr="image.png"/>
          <p:cNvPicPr preferRelativeResize="0"/>
          <p:nvPr/>
        </p:nvPicPr>
        <p:blipFill rotWithShape="1">
          <a:blip r:embed="rId2"/>
          <a:srcRect/>
          <a:stretch>
            <a:fillRect/>
          </a:stretch>
        </p:blipFill>
        <p:spPr>
          <a:xfrm>
            <a:off x="571500" y="1948904"/>
            <a:ext cx="5334000" cy="3674566"/>
          </a:xfrm>
          <a:prstGeom prst="rect">
            <a:avLst/>
          </a:prstGeom>
          <a:noFill/>
          <a:ln>
            <a:noFill/>
          </a:ln>
        </p:spPr>
      </p:pic>
      <p:pic>
        <p:nvPicPr>
          <p:cNvPr id="275" name="Google Shape;275;p24" descr="image.png"/>
          <p:cNvPicPr preferRelativeResize="0"/>
          <p:nvPr/>
        </p:nvPicPr>
        <p:blipFill rotWithShape="1">
          <a:blip r:embed="rId2"/>
          <a:srcRect/>
          <a:stretch>
            <a:fillRect/>
          </a:stretch>
        </p:blipFill>
        <p:spPr>
          <a:xfrm>
            <a:off x="6286500" y="1948904"/>
            <a:ext cx="5334000" cy="3674566"/>
          </a:xfrm>
          <a:prstGeom prst="rect">
            <a:avLst/>
          </a:prstGeom>
          <a:noFill/>
          <a:ln>
            <a:noFill/>
          </a:ln>
        </p:spPr>
      </p:pic>
      <p:pic>
        <p:nvPicPr>
          <p:cNvPr id="276" name="Google Shape;276;p24" descr="image.png"/>
          <p:cNvPicPr preferRelativeResize="0"/>
          <p:nvPr/>
        </p:nvPicPr>
        <p:blipFill rotWithShape="1">
          <a:blip r:embed="rId3"/>
          <a:srcRect/>
          <a:stretch>
            <a:fillRect/>
          </a:stretch>
        </p:blipFill>
        <p:spPr>
          <a:xfrm>
            <a:off x="6581775" y="3413819"/>
            <a:ext cx="4743450" cy="428625"/>
          </a:xfrm>
          <a:prstGeom prst="rect">
            <a:avLst/>
          </a:prstGeom>
          <a:noFill/>
          <a:ln>
            <a:noFill/>
          </a:ln>
        </p:spPr>
      </p:pic>
      <p:sp>
        <p:nvSpPr>
          <p:cNvPr id="277" name="Google Shape;277;p24"/>
          <p:cNvSpPr txBox="1"/>
          <p:nvPr/>
        </p:nvSpPr>
        <p:spPr>
          <a:xfrm>
            <a:off x="866775" y="2244179"/>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E5FF"/>
                </a:solidFill>
                <a:latin typeface="Public Sans"/>
                <a:ea typeface="Public Sans"/>
                <a:cs typeface="Public Sans"/>
                <a:sym typeface="Public Sans"/>
              </a:rPr>
              <a:t>Các chỉ số giám sát cốt lõi</a:t>
            </a:r>
            <a:endParaRPr lang="en-US" sz="1800" b="1" i="0" u="none" strike="noStrike" cap="none">
              <a:solidFill>
                <a:srgbClr val="00E5FF"/>
              </a:solidFill>
              <a:latin typeface="Public Sans"/>
              <a:ea typeface="Public Sans"/>
              <a:cs typeface="Public Sans"/>
              <a:sym typeface="Public Sans"/>
            </a:endParaRPr>
          </a:p>
        </p:txBody>
      </p:sp>
      <p:sp>
        <p:nvSpPr>
          <p:cNvPr id="278" name="Google Shape;278;p24"/>
          <p:cNvSpPr txBox="1"/>
          <p:nvPr/>
        </p:nvSpPr>
        <p:spPr>
          <a:xfrm>
            <a:off x="866775" y="2825204"/>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Điểm số (GPA):</a:t>
            </a:r>
            <a:r>
              <a:rPr lang="en-US" sz="1350" b="0" i="0" u="none" strike="noStrike" cap="none">
                <a:solidFill>
                  <a:srgbClr val="E2E8F0"/>
                </a:solidFill>
                <a:latin typeface="Public Sans"/>
                <a:ea typeface="Public Sans"/>
                <a:cs typeface="Public Sans"/>
                <a:sym typeface="Public Sans"/>
              </a:rPr>
              <a:t> Trọng số lớn nhất, phản ánh thực tế kết quả làm bài tập và bài kiểm tra định kỳ của sinh viên.</a:t>
            </a:r>
            <a:endParaRPr lang="en-US" sz="1350" b="0" i="0" u="none" strike="noStrike" cap="none">
              <a:solidFill>
                <a:srgbClr val="E2E8F0"/>
              </a:solidFill>
              <a:latin typeface="Public Sans"/>
              <a:ea typeface="Public Sans"/>
              <a:cs typeface="Public Sans"/>
              <a:sym typeface="Public Sans"/>
            </a:endParaRPr>
          </a:p>
        </p:txBody>
      </p:sp>
      <p:sp>
        <p:nvSpPr>
          <p:cNvPr id="279" name="Google Shape;279;p24"/>
          <p:cNvSpPr txBox="1"/>
          <p:nvPr/>
        </p:nvSpPr>
        <p:spPr>
          <a:xfrm>
            <a:off x="866775" y="3716684"/>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Chuyên cần (Attendance):</a:t>
            </a:r>
            <a:r>
              <a:rPr lang="en-US" sz="1350" b="0" i="0" u="none" strike="noStrike" cap="none">
                <a:solidFill>
                  <a:srgbClr val="E2E8F0"/>
                </a:solidFill>
                <a:latin typeface="Public Sans"/>
                <a:ea typeface="Public Sans"/>
                <a:cs typeface="Public Sans"/>
                <a:sym typeface="Public Sans"/>
              </a:rPr>
              <a:t> Thống kê thông qua tỷ lệ vắng mặt hoặc tần suất vắng các buổi học trực tuyến.</a:t>
            </a:r>
            <a:endParaRPr lang="en-US" sz="1350" b="0" i="0" u="none" strike="noStrike" cap="none">
              <a:solidFill>
                <a:srgbClr val="E2E8F0"/>
              </a:solidFill>
              <a:latin typeface="Public Sans"/>
              <a:ea typeface="Public Sans"/>
              <a:cs typeface="Public Sans"/>
              <a:sym typeface="Public Sans"/>
            </a:endParaRPr>
          </a:p>
        </p:txBody>
      </p:sp>
      <p:sp>
        <p:nvSpPr>
          <p:cNvPr id="280" name="Google Shape;280;p24"/>
          <p:cNvSpPr txBox="1"/>
          <p:nvPr/>
        </p:nvSpPr>
        <p:spPr>
          <a:xfrm>
            <a:off x="866775" y="4608165"/>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Mức độ tương tác (Inactive days):</a:t>
            </a:r>
            <a:r>
              <a:rPr lang="en-US" sz="1350" b="0" i="0" u="none" strike="noStrike" cap="none">
                <a:solidFill>
                  <a:srgbClr val="E2E8F0"/>
                </a:solidFill>
                <a:latin typeface="Public Sans"/>
                <a:ea typeface="Public Sans"/>
                <a:cs typeface="Public Sans"/>
                <a:sym typeface="Public Sans"/>
              </a:rPr>
              <a:t> Số ngày liên tiếp sinh viên không đăng nhập hệ thống học tập Moodle.</a:t>
            </a:r>
            <a:endParaRPr lang="en-US" sz="1350" b="0" i="0" u="none" strike="noStrike" cap="none">
              <a:solidFill>
                <a:srgbClr val="E2E8F0"/>
              </a:solidFill>
              <a:latin typeface="Public Sans"/>
              <a:ea typeface="Public Sans"/>
              <a:cs typeface="Public Sans"/>
              <a:sym typeface="Public Sans"/>
            </a:endParaRPr>
          </a:p>
        </p:txBody>
      </p:sp>
      <p:sp>
        <p:nvSpPr>
          <p:cNvPr id="281" name="Google Shape;281;p24"/>
          <p:cNvSpPr txBox="1"/>
          <p:nvPr/>
        </p:nvSpPr>
        <p:spPr>
          <a:xfrm>
            <a:off x="6581775" y="2244179"/>
            <a:ext cx="4980622"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E5FF"/>
                </a:solidFill>
                <a:latin typeface="Public Sans"/>
                <a:ea typeface="Public Sans"/>
                <a:cs typeface="Public Sans"/>
                <a:sym typeface="Public Sans"/>
              </a:rPr>
              <a:t>Công thức tính chỉ số rủi ro R</a:t>
            </a:r>
            <a:endParaRPr lang="en-US" sz="1800" b="1" i="0" u="none" strike="noStrike" cap="none">
              <a:solidFill>
                <a:srgbClr val="00E5FF"/>
              </a:solidFill>
              <a:latin typeface="Public Sans"/>
              <a:ea typeface="Public Sans"/>
              <a:cs typeface="Public Sans"/>
              <a:sym typeface="Public Sans"/>
            </a:endParaRPr>
          </a:p>
        </p:txBody>
      </p:sp>
      <p:sp>
        <p:nvSpPr>
          <p:cNvPr id="282" name="Google Shape;282;p24"/>
          <p:cNvSpPr txBox="1"/>
          <p:nvPr/>
        </p:nvSpPr>
        <p:spPr>
          <a:xfrm>
            <a:off x="6581775" y="2825204"/>
            <a:ext cx="47434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Công thức tính mức độ rủi ro tích hợp trọng số (Risk Index):</a:t>
            </a:r>
            <a:endParaRPr lang="en-US" sz="1350" b="0" i="0" u="none" strike="noStrike" cap="none">
              <a:solidFill>
                <a:srgbClr val="E2E8F0"/>
              </a:solidFill>
              <a:latin typeface="Public Sans"/>
              <a:ea typeface="Public Sans"/>
              <a:cs typeface="Public Sans"/>
              <a:sym typeface="Public Sans"/>
            </a:endParaRPr>
          </a:p>
        </p:txBody>
      </p:sp>
      <p:sp>
        <p:nvSpPr>
          <p:cNvPr id="283" name="Google Shape;283;p24"/>
          <p:cNvSpPr txBox="1"/>
          <p:nvPr/>
        </p:nvSpPr>
        <p:spPr>
          <a:xfrm>
            <a:off x="6581775" y="3985319"/>
            <a:ext cx="47434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1" u="none" strike="noStrike" cap="none">
                <a:solidFill>
                  <a:srgbClr val="00E5FF"/>
                </a:solidFill>
                <a:latin typeface="Public Sans"/>
                <a:ea typeface="Public Sans"/>
                <a:cs typeface="Public Sans"/>
                <a:sym typeface="Public Sans"/>
              </a:rPr>
              <a:t>(A: tỷ lệ chuyên cần %, I: số ngày ngừng truy cập chuẩn hóa)</a:t>
            </a:r>
            <a:endParaRPr lang="en-US" sz="1125" b="0" i="1" u="none" strike="noStrike" cap="none">
              <a:solidFill>
                <a:srgbClr val="00E5FF"/>
              </a:solidFill>
              <a:latin typeface="Public Sans"/>
              <a:ea typeface="Public Sans"/>
              <a:cs typeface="Public Sans"/>
              <a:sym typeface="Public Sans"/>
            </a:endParaRPr>
          </a:p>
        </p:txBody>
      </p:sp>
      <p:pic>
        <p:nvPicPr>
          <p:cNvPr id="284" name="Google Shape;284;p24" descr="image.png"/>
          <p:cNvPicPr preferRelativeResize="0"/>
          <p:nvPr/>
        </p:nvPicPr>
        <p:blipFill rotWithShape="1">
          <a:blip r:embed="rId4"/>
          <a:srcRect/>
          <a:stretch>
            <a:fillRect/>
          </a:stretch>
        </p:blipFill>
        <p:spPr>
          <a:xfrm>
            <a:off x="7412533" y="3575744"/>
            <a:ext cx="3081932" cy="104775"/>
          </a:xfrm>
          <a:prstGeom prst="rect">
            <a:avLst/>
          </a:prstGeom>
          <a:noFill/>
          <a:ln w="9525" cap="flat" cmpd="sng">
            <a:solidFill>
              <a:schemeClr val="dk1"/>
            </a:solidFill>
            <a:prstDash val="solid"/>
            <a:round/>
            <a:headEnd type="none" w="sm" len="sm"/>
            <a:tailEnd type="none" w="sm" len="sm"/>
          </a:ln>
        </p:spPr>
      </p:pic>
      <p:sp>
        <p:nvSpPr>
          <p:cNvPr id="285" name="Google Shape;285;p24"/>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6" name="Google Shape;286;p24"/>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7" name="Google Shape;287;p24"/>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CHỈ SỐ ĐÁNH GIÁ RỦI RO HỌC TẬP</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288" name="Google Shape;288;p24"/>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pic>
        <p:nvPicPr>
          <p:cNvPr id="293" name="Google Shape;293;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94" name="Google Shape;294;p25" descr="image.png"/>
          <p:cNvPicPr preferRelativeResize="0"/>
          <p:nvPr/>
        </p:nvPicPr>
        <p:blipFill rotWithShape="1">
          <a:blip r:embed="rId2"/>
          <a:srcRect/>
          <a:stretch>
            <a:fillRect/>
          </a:stretch>
        </p:blipFill>
        <p:spPr>
          <a:xfrm>
            <a:off x="571500" y="1285875"/>
            <a:ext cx="11049000" cy="5000625"/>
          </a:xfrm>
          <a:prstGeom prst="rect">
            <a:avLst/>
          </a:prstGeom>
          <a:noFill/>
          <a:ln>
            <a:noFill/>
          </a:ln>
        </p:spPr>
      </p:pic>
      <p:sp>
        <p:nvSpPr>
          <p:cNvPr id="295" name="Google Shape;295;p25"/>
          <p:cNvSpPr txBox="1"/>
          <p:nvPr/>
        </p:nvSpPr>
        <p:spPr>
          <a:xfrm>
            <a:off x="571500" y="4711005"/>
            <a:ext cx="1104900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1" u="none" strike="noStrike" cap="none">
                <a:solidFill>
                  <a:srgbClr val="00E5FF"/>
                </a:solidFill>
                <a:latin typeface="Public Sans"/>
                <a:ea typeface="Public Sans"/>
                <a:cs typeface="Public Sans"/>
                <a:sym typeface="Public Sans"/>
              </a:rPr>
              <a:t>Hệ thống tự động quét dữ liệu mỗi 24 giờ để cập nhật trạng thái rủi ro của sinh viên lên bảng điều khiển của Giảng viên.</a:t>
            </a:r>
            <a:endParaRPr lang="en-US" sz="1350" b="0" i="1" u="none" strike="noStrike" cap="none">
              <a:solidFill>
                <a:srgbClr val="00E5FF"/>
              </a:solidFill>
              <a:latin typeface="Public Sans"/>
              <a:ea typeface="Public Sans"/>
              <a:cs typeface="Public Sans"/>
              <a:sym typeface="Public Sans"/>
            </a:endParaRPr>
          </a:p>
        </p:txBody>
      </p:sp>
      <p:sp>
        <p:nvSpPr>
          <p:cNvPr id="296" name="Google Shape;296;p25"/>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7" name="Google Shape;297;p25"/>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98" name="Google Shape;298;p25"/>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CÁC MỨC ĐỘ RỦI RO HỌC TẬP</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299" name="Google Shape;299;p25"/>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pic>
        <p:nvPicPr>
          <p:cNvPr id="304" name="Google Shape;304;p2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05" name="Google Shape;305;p26" descr="image.png"/>
          <p:cNvPicPr preferRelativeResize="0"/>
          <p:nvPr/>
        </p:nvPicPr>
        <p:blipFill rotWithShape="1">
          <a:blip r:embed="rId2"/>
          <a:srcRect/>
          <a:stretch>
            <a:fillRect/>
          </a:stretch>
        </p:blipFill>
        <p:spPr>
          <a:xfrm>
            <a:off x="571500" y="1976437"/>
            <a:ext cx="5334000" cy="3619500"/>
          </a:xfrm>
          <a:prstGeom prst="rect">
            <a:avLst/>
          </a:prstGeom>
          <a:noFill/>
          <a:ln>
            <a:noFill/>
          </a:ln>
        </p:spPr>
      </p:pic>
      <p:pic>
        <p:nvPicPr>
          <p:cNvPr id="306" name="Google Shape;306;p26" descr="image.png"/>
          <p:cNvPicPr preferRelativeResize="0"/>
          <p:nvPr/>
        </p:nvPicPr>
        <p:blipFill rotWithShape="1">
          <a:blip r:embed="rId3"/>
          <a:srcRect/>
          <a:stretch>
            <a:fillRect/>
          </a:stretch>
        </p:blipFill>
        <p:spPr>
          <a:xfrm>
            <a:off x="6286500" y="1976437"/>
            <a:ext cx="5334000" cy="3619500"/>
          </a:xfrm>
          <a:prstGeom prst="rect">
            <a:avLst/>
          </a:prstGeom>
          <a:noFill/>
          <a:ln>
            <a:noFill/>
          </a:ln>
        </p:spPr>
      </p:pic>
      <p:pic>
        <p:nvPicPr>
          <p:cNvPr id="307" name="Google Shape;307;p26" descr="image.png"/>
          <p:cNvPicPr preferRelativeResize="0"/>
          <p:nvPr/>
        </p:nvPicPr>
        <p:blipFill rotWithShape="1">
          <a:blip r:embed="rId4"/>
          <a:srcRect/>
          <a:stretch>
            <a:fillRect/>
          </a:stretch>
        </p:blipFill>
        <p:spPr>
          <a:xfrm>
            <a:off x="6305550" y="1995487"/>
            <a:ext cx="5295900" cy="3581400"/>
          </a:xfrm>
          <a:prstGeom prst="rect">
            <a:avLst/>
          </a:prstGeom>
          <a:noFill/>
          <a:ln>
            <a:noFill/>
          </a:ln>
        </p:spPr>
      </p:pic>
      <p:sp>
        <p:nvSpPr>
          <p:cNvPr id="308" name="Google Shape;308;p26"/>
          <p:cNvSpPr txBox="1"/>
          <p:nvPr/>
        </p:nvSpPr>
        <p:spPr>
          <a:xfrm>
            <a:off x="1200150" y="2271712"/>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Nhập câu hỏi:</a:t>
            </a:r>
            <a:r>
              <a:rPr lang="en-US" sz="1350" b="0" i="0" u="none" strike="noStrike" cap="none">
                <a:solidFill>
                  <a:srgbClr val="E2E8F0"/>
                </a:solidFill>
                <a:latin typeface="Public Sans"/>
                <a:ea typeface="Public Sans"/>
                <a:cs typeface="Public Sans"/>
                <a:sym typeface="Public Sans"/>
              </a:rPr>
              <a:t> Người dùng gửi câu hỏi ngôn ngữ tự nhiên thông qua giao diện hội thoại Chatbot.</a:t>
            </a:r>
            <a:endParaRPr lang="en-US" sz="1350" b="0" i="0" u="none" strike="noStrike" cap="none">
              <a:solidFill>
                <a:srgbClr val="E2E8F0"/>
              </a:solidFill>
              <a:latin typeface="Public Sans"/>
              <a:ea typeface="Public Sans"/>
              <a:cs typeface="Public Sans"/>
              <a:sym typeface="Public Sans"/>
            </a:endParaRPr>
          </a:p>
        </p:txBody>
      </p:sp>
      <p:sp>
        <p:nvSpPr>
          <p:cNvPr id="309" name="Google Shape;309;p26"/>
          <p:cNvSpPr txBox="1"/>
          <p:nvPr/>
        </p:nvSpPr>
        <p:spPr>
          <a:xfrm>
            <a:off x="1200150" y="2991742"/>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Xử lý cục bộ:</a:t>
            </a:r>
            <a:r>
              <a:rPr lang="en-US" sz="1350" b="0" i="0" u="none" strike="noStrike" cap="none">
                <a:solidFill>
                  <a:srgbClr val="E2E8F0"/>
                </a:solidFill>
                <a:latin typeface="Public Sans"/>
                <a:ea typeface="Public Sans"/>
                <a:cs typeface="Public Sans"/>
                <a:sym typeface="Public Sans"/>
              </a:rPr>
              <a:t> Bộ so khớp ý định (Local Matching) kiểm tra các từ khóa nghiệp vụ định sẵn.</a:t>
            </a:r>
            <a:endParaRPr lang="en-US" sz="1350" b="0" i="0" u="none" strike="noStrike" cap="none">
              <a:solidFill>
                <a:srgbClr val="E2E8F0"/>
              </a:solidFill>
              <a:latin typeface="Public Sans"/>
              <a:ea typeface="Public Sans"/>
              <a:cs typeface="Public Sans"/>
              <a:sym typeface="Public Sans"/>
            </a:endParaRPr>
          </a:p>
        </p:txBody>
      </p:sp>
      <p:sp>
        <p:nvSpPr>
          <p:cNvPr id="310" name="Google Shape;310;p26"/>
          <p:cNvSpPr txBox="1"/>
          <p:nvPr/>
        </p:nvSpPr>
        <p:spPr>
          <a:xfrm>
            <a:off x="1200150" y="3711773"/>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Xử lý AI:</a:t>
            </a:r>
            <a:r>
              <a:rPr lang="en-US" sz="1350" b="0" i="0" u="none" strike="noStrike" cap="none">
                <a:solidFill>
                  <a:srgbClr val="E2E8F0"/>
                </a:solidFill>
                <a:latin typeface="Public Sans"/>
                <a:ea typeface="Public Sans"/>
                <a:cs typeface="Public Sans"/>
                <a:sym typeface="Public Sans"/>
              </a:rPr>
              <a:t> Nếu câu hỏi phức tạp hoặc là hội thoại tự do, API Claude được gọi để sinh phản hồi linh hoạt.</a:t>
            </a:r>
            <a:endParaRPr lang="en-US" sz="1350" b="0" i="0" u="none" strike="noStrike" cap="none">
              <a:solidFill>
                <a:srgbClr val="E2E8F0"/>
              </a:solidFill>
              <a:latin typeface="Public Sans"/>
              <a:ea typeface="Public Sans"/>
              <a:cs typeface="Public Sans"/>
              <a:sym typeface="Public Sans"/>
            </a:endParaRPr>
          </a:p>
        </p:txBody>
      </p:sp>
      <p:sp>
        <p:nvSpPr>
          <p:cNvPr id="311" name="Google Shape;311;p26"/>
          <p:cNvSpPr txBox="1"/>
          <p:nvPr/>
        </p:nvSpPr>
        <p:spPr>
          <a:xfrm>
            <a:off x="1200150" y="4431803"/>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Truy vấn CSDL:</a:t>
            </a:r>
            <a:r>
              <a:rPr lang="en-US" sz="1350" b="0" i="0" u="none" strike="noStrike" cap="none">
                <a:solidFill>
                  <a:srgbClr val="E2E8F0"/>
                </a:solidFill>
                <a:latin typeface="Public Sans"/>
                <a:ea typeface="Public Sans"/>
                <a:cs typeface="Public Sans"/>
                <a:sym typeface="Public Sans"/>
              </a:rPr>
              <a:t> Chatbot lấy thông tin từ MySQL để làm giàu ngữ cảnh câu trả lời chính xác.</a:t>
            </a:r>
            <a:endParaRPr lang="en-US" sz="1350" b="0" i="0" u="none" strike="noStrike" cap="none">
              <a:solidFill>
                <a:srgbClr val="E2E8F0"/>
              </a:solidFill>
              <a:latin typeface="Public Sans"/>
              <a:ea typeface="Public Sans"/>
              <a:cs typeface="Public Sans"/>
              <a:sym typeface="Public Sans"/>
            </a:endParaRPr>
          </a:p>
        </p:txBody>
      </p:sp>
      <p:pic>
        <p:nvPicPr>
          <p:cNvPr id="312" name="Google Shape;312;p26" descr="image.png"/>
          <p:cNvPicPr preferRelativeResize="0"/>
          <p:nvPr/>
        </p:nvPicPr>
        <p:blipFill rotWithShape="1">
          <a:blip r:embed="rId5"/>
          <a:srcRect/>
          <a:stretch>
            <a:fillRect/>
          </a:stretch>
        </p:blipFill>
        <p:spPr>
          <a:xfrm>
            <a:off x="866775" y="2314575"/>
            <a:ext cx="219075" cy="200025"/>
          </a:xfrm>
          <a:prstGeom prst="rect">
            <a:avLst/>
          </a:prstGeom>
          <a:noFill/>
          <a:ln>
            <a:noFill/>
          </a:ln>
        </p:spPr>
      </p:pic>
      <p:pic>
        <p:nvPicPr>
          <p:cNvPr id="313" name="Google Shape;313;p26" descr="image.png"/>
          <p:cNvPicPr preferRelativeResize="0"/>
          <p:nvPr/>
        </p:nvPicPr>
        <p:blipFill rotWithShape="1">
          <a:blip r:embed="rId6"/>
          <a:srcRect/>
          <a:stretch>
            <a:fillRect/>
          </a:stretch>
        </p:blipFill>
        <p:spPr>
          <a:xfrm>
            <a:off x="866775" y="3034605"/>
            <a:ext cx="190500" cy="200025"/>
          </a:xfrm>
          <a:prstGeom prst="rect">
            <a:avLst/>
          </a:prstGeom>
          <a:noFill/>
          <a:ln>
            <a:noFill/>
          </a:ln>
        </p:spPr>
      </p:pic>
      <p:pic>
        <p:nvPicPr>
          <p:cNvPr id="314" name="Google Shape;314;p26" descr="image.png"/>
          <p:cNvPicPr preferRelativeResize="0"/>
          <p:nvPr/>
        </p:nvPicPr>
        <p:blipFill rotWithShape="1">
          <a:blip r:embed="rId7"/>
          <a:srcRect/>
          <a:stretch>
            <a:fillRect/>
          </a:stretch>
        </p:blipFill>
        <p:spPr>
          <a:xfrm>
            <a:off x="866775" y="3754635"/>
            <a:ext cx="190500" cy="200025"/>
          </a:xfrm>
          <a:prstGeom prst="rect">
            <a:avLst/>
          </a:prstGeom>
          <a:noFill/>
          <a:ln>
            <a:noFill/>
          </a:ln>
        </p:spPr>
      </p:pic>
      <p:pic>
        <p:nvPicPr>
          <p:cNvPr id="315" name="Google Shape;315;p26" descr="image.png"/>
          <p:cNvPicPr preferRelativeResize="0"/>
          <p:nvPr/>
        </p:nvPicPr>
        <p:blipFill rotWithShape="1">
          <a:blip r:embed="rId8"/>
          <a:srcRect/>
          <a:stretch>
            <a:fillRect/>
          </a:stretch>
        </p:blipFill>
        <p:spPr>
          <a:xfrm>
            <a:off x="866775" y="4474666"/>
            <a:ext cx="171450" cy="200025"/>
          </a:xfrm>
          <a:prstGeom prst="rect">
            <a:avLst/>
          </a:prstGeom>
          <a:noFill/>
          <a:ln>
            <a:noFill/>
          </a:ln>
        </p:spPr>
      </p:pic>
      <p:sp>
        <p:nvSpPr>
          <p:cNvPr id="316" name="Google Shape;316;p26"/>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7" name="Google Shape;317;p26"/>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8" name="Google Shape;318;p26"/>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LUỒNG XỬ LÝ HỘI THOẠI CHATBOT</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319" name="Google Shape;319;p26"/>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23" name="Shape 323"/>
        <p:cNvGrpSpPr/>
        <p:nvPr/>
      </p:nvGrpSpPr>
      <p:grpSpPr>
        <a:xfrm>
          <a:off x="0" y="0"/>
          <a:ext cx="0" cy="0"/>
          <a:chOff x="0" y="0"/>
          <a:chExt cx="0" cy="0"/>
        </a:xfrm>
      </p:grpSpPr>
      <p:pic>
        <p:nvPicPr>
          <p:cNvPr id="324" name="Google Shape;324;p2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25" name="Google Shape;325;p27" descr="image.png"/>
          <p:cNvPicPr preferRelativeResize="0"/>
          <p:nvPr/>
        </p:nvPicPr>
        <p:blipFill rotWithShape="1">
          <a:blip r:embed="rId2"/>
          <a:srcRect/>
          <a:stretch>
            <a:fillRect/>
          </a:stretch>
        </p:blipFill>
        <p:spPr>
          <a:xfrm>
            <a:off x="571500" y="1723132"/>
            <a:ext cx="5334000" cy="4125962"/>
          </a:xfrm>
          <a:prstGeom prst="rect">
            <a:avLst/>
          </a:prstGeom>
          <a:noFill/>
          <a:ln>
            <a:noFill/>
          </a:ln>
        </p:spPr>
      </p:pic>
      <p:pic>
        <p:nvPicPr>
          <p:cNvPr id="326" name="Google Shape;326;p27" descr="image.png"/>
          <p:cNvPicPr preferRelativeResize="0"/>
          <p:nvPr/>
        </p:nvPicPr>
        <p:blipFill rotWithShape="1">
          <a:blip r:embed="rId3"/>
          <a:srcRect/>
          <a:stretch>
            <a:fillRect/>
          </a:stretch>
        </p:blipFill>
        <p:spPr>
          <a:xfrm>
            <a:off x="6286500" y="1723132"/>
            <a:ext cx="5334000" cy="4125962"/>
          </a:xfrm>
          <a:prstGeom prst="rect">
            <a:avLst/>
          </a:prstGeom>
          <a:noFill/>
          <a:ln>
            <a:noFill/>
          </a:ln>
        </p:spPr>
      </p:pic>
      <p:sp>
        <p:nvSpPr>
          <p:cNvPr id="327" name="Google Shape;327;p27"/>
          <p:cNvSpPr txBox="1"/>
          <p:nvPr/>
        </p:nvSpPr>
        <p:spPr>
          <a:xfrm>
            <a:off x="962025" y="2947838"/>
            <a:ext cx="4552950" cy="12382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9750" b="0" i="0" u="none" strike="noStrike" cap="none">
                <a:solidFill>
                  <a:srgbClr val="00FFD0"/>
                </a:solidFill>
                <a:latin typeface="Public Sans ExtraBold"/>
                <a:ea typeface="Public Sans ExtraBold"/>
                <a:cs typeface="Public Sans ExtraBold"/>
                <a:sym typeface="Public Sans ExtraBold"/>
              </a:rPr>
              <a:t>40+</a:t>
            </a:r>
            <a:endParaRPr lang="en-US" sz="9750" b="0" i="0" u="none" strike="noStrike" cap="none">
              <a:solidFill>
                <a:srgbClr val="00FFD0"/>
              </a:solidFill>
              <a:latin typeface="Public Sans ExtraBold"/>
              <a:ea typeface="Public Sans ExtraBold"/>
              <a:cs typeface="Public Sans ExtraBold"/>
              <a:sym typeface="Public Sans ExtraBold"/>
            </a:endParaRPr>
          </a:p>
        </p:txBody>
      </p:sp>
      <p:sp>
        <p:nvSpPr>
          <p:cNvPr id="328" name="Google Shape;328;p27"/>
          <p:cNvSpPr txBox="1"/>
          <p:nvPr/>
        </p:nvSpPr>
        <p:spPr>
          <a:xfrm>
            <a:off x="962025" y="4328963"/>
            <a:ext cx="4552950" cy="2952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a:solidFill>
                  <a:srgbClr val="FFFFFF"/>
                </a:solidFill>
                <a:latin typeface="Public Sans"/>
                <a:ea typeface="Public Sans"/>
                <a:cs typeface="Public Sans"/>
                <a:sym typeface="Public Sans"/>
              </a:rPr>
              <a:t>Endpoints REST API đã phát triển</a:t>
            </a:r>
            <a:endParaRPr lang="en-US" sz="1950" b="1" i="0" u="none" strike="noStrike" cap="none">
              <a:solidFill>
                <a:srgbClr val="FFFFFF"/>
              </a:solidFill>
              <a:latin typeface="Public Sans"/>
              <a:ea typeface="Public Sans"/>
              <a:cs typeface="Public Sans"/>
              <a:sym typeface="Public Sans"/>
            </a:endParaRPr>
          </a:p>
        </p:txBody>
      </p:sp>
      <p:sp>
        <p:nvSpPr>
          <p:cNvPr id="329" name="Google Shape;329;p27"/>
          <p:cNvSpPr txBox="1"/>
          <p:nvPr/>
        </p:nvSpPr>
        <p:spPr>
          <a:xfrm>
            <a:off x="6581775" y="2018407"/>
            <a:ext cx="4980622"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5" b="1" i="0" u="none" strike="noStrike" cap="none">
                <a:solidFill>
                  <a:srgbClr val="FFFFFF"/>
                </a:solidFill>
                <a:latin typeface="Public Sans"/>
                <a:ea typeface="Public Sans"/>
                <a:cs typeface="Public Sans"/>
                <a:sym typeface="Public Sans"/>
              </a:rPr>
              <a:t>Cài đặt Backend vững chắc</a:t>
            </a:r>
            <a:endParaRPr lang="en-US" sz="1405" b="1" i="0" u="none" strike="noStrike" cap="none">
              <a:solidFill>
                <a:srgbClr val="FFFFFF"/>
              </a:solidFill>
              <a:latin typeface="Public Sans"/>
              <a:ea typeface="Public Sans"/>
              <a:cs typeface="Public Sans"/>
              <a:sym typeface="Public Sans"/>
            </a:endParaRPr>
          </a:p>
        </p:txBody>
      </p:sp>
      <p:sp>
        <p:nvSpPr>
          <p:cNvPr id="330" name="Google Shape;330;p27"/>
          <p:cNvSpPr txBox="1"/>
          <p:nvPr/>
        </p:nvSpPr>
        <p:spPr>
          <a:xfrm>
            <a:off x="6581775" y="2399407"/>
            <a:ext cx="47434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Hệ thống cung cấp một tập hợp đa dạng các API giúp đồng bộ và khai thác dữ liệu Moodle toàn diện:</a:t>
            </a:r>
            <a:endParaRPr lang="en-US" sz="1350" b="0" i="0" u="none" strike="noStrike" cap="none">
              <a:solidFill>
                <a:srgbClr val="E2E8F0"/>
              </a:solidFill>
              <a:latin typeface="Public Sans"/>
              <a:ea typeface="Public Sans"/>
              <a:cs typeface="Public Sans"/>
              <a:sym typeface="Public Sans"/>
            </a:endParaRPr>
          </a:p>
        </p:txBody>
      </p:sp>
      <p:sp>
        <p:nvSpPr>
          <p:cNvPr id="331" name="Google Shape;331;p27"/>
          <p:cNvSpPr txBox="1"/>
          <p:nvPr/>
        </p:nvSpPr>
        <p:spPr>
          <a:xfrm>
            <a:off x="6915150" y="3119437"/>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User &amp; Sync API:</a:t>
            </a:r>
            <a:r>
              <a:rPr lang="en-US" sz="1350" b="0" i="0" u="none" strike="noStrike" cap="none">
                <a:solidFill>
                  <a:srgbClr val="E2E8F0"/>
                </a:solidFill>
                <a:latin typeface="Public Sans"/>
                <a:ea typeface="Public Sans"/>
                <a:cs typeface="Public Sans"/>
                <a:sym typeface="Public Sans"/>
              </a:rPr>
              <a:t> Quản lý thông tin tài khoản và kích hoạt đồng bộ hóa dữ liệu thủ công hoặc tự động.</a:t>
            </a:r>
            <a:endParaRPr lang="en-US" sz="1350" b="0" i="0" u="none" strike="noStrike" cap="none">
              <a:solidFill>
                <a:srgbClr val="E2E8F0"/>
              </a:solidFill>
              <a:latin typeface="Public Sans"/>
              <a:ea typeface="Public Sans"/>
              <a:cs typeface="Public Sans"/>
              <a:sym typeface="Public Sans"/>
            </a:endParaRPr>
          </a:p>
        </p:txBody>
      </p:sp>
      <p:sp>
        <p:nvSpPr>
          <p:cNvPr id="332" name="Google Shape;332;p27"/>
          <p:cNvSpPr txBox="1"/>
          <p:nvPr/>
        </p:nvSpPr>
        <p:spPr>
          <a:xfrm>
            <a:off x="6915150" y="3839467"/>
            <a:ext cx="44100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Grade &amp; Warning API:</a:t>
            </a:r>
            <a:r>
              <a:rPr lang="en-US" sz="1350" b="0" i="0" u="none" strike="noStrike" cap="none">
                <a:solidFill>
                  <a:srgbClr val="E2E8F0"/>
                </a:solidFill>
                <a:latin typeface="Public Sans"/>
                <a:ea typeface="Public Sans"/>
                <a:cs typeface="Public Sans"/>
                <a:sym typeface="Public Sans"/>
              </a:rPr>
              <a:t> Truy xuất điểm trung bình, xếp hạng học tập và quản lý danh sách cảnh báo mức độ rủi ro.</a:t>
            </a:r>
            <a:endParaRPr lang="en-US" sz="1350" b="0" i="0" u="none" strike="noStrike" cap="none">
              <a:solidFill>
                <a:srgbClr val="E2E8F0"/>
              </a:solidFill>
              <a:latin typeface="Public Sans"/>
              <a:ea typeface="Public Sans"/>
              <a:cs typeface="Public Sans"/>
              <a:sym typeface="Public Sans"/>
            </a:endParaRPr>
          </a:p>
        </p:txBody>
      </p:sp>
      <p:sp>
        <p:nvSpPr>
          <p:cNvPr id="333" name="Google Shape;333;p27"/>
          <p:cNvSpPr txBox="1"/>
          <p:nvPr/>
        </p:nvSpPr>
        <p:spPr>
          <a:xfrm>
            <a:off x="6915150" y="4833788"/>
            <a:ext cx="44100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Notification API:</a:t>
            </a:r>
            <a:r>
              <a:rPr lang="en-US" sz="1350" b="0" i="0" u="none" strike="noStrike" cap="none">
                <a:solidFill>
                  <a:srgbClr val="E2E8F0"/>
                </a:solidFill>
                <a:latin typeface="Public Sans"/>
                <a:ea typeface="Public Sans"/>
                <a:cs typeface="Public Sans"/>
                <a:sym typeface="Public Sans"/>
              </a:rPr>
              <a:t> Gửi cảnh báo thời gian thực thông qua WebSocket đến giao diện người học.</a:t>
            </a:r>
            <a:endParaRPr lang="en-US" sz="1350" b="0" i="0" u="none" strike="noStrike" cap="none">
              <a:solidFill>
                <a:srgbClr val="E2E8F0"/>
              </a:solidFill>
              <a:latin typeface="Public Sans"/>
              <a:ea typeface="Public Sans"/>
              <a:cs typeface="Public Sans"/>
              <a:sym typeface="Public Sans"/>
            </a:endParaRPr>
          </a:p>
        </p:txBody>
      </p:sp>
      <p:pic>
        <p:nvPicPr>
          <p:cNvPr id="334" name="Google Shape;334;p27" descr="image.png"/>
          <p:cNvPicPr preferRelativeResize="0"/>
          <p:nvPr/>
        </p:nvPicPr>
        <p:blipFill rotWithShape="1">
          <a:blip r:embed="rId4"/>
          <a:srcRect/>
          <a:stretch>
            <a:fillRect/>
          </a:stretch>
        </p:blipFill>
        <p:spPr>
          <a:xfrm>
            <a:off x="6581775" y="3162300"/>
            <a:ext cx="171450" cy="200025"/>
          </a:xfrm>
          <a:prstGeom prst="rect">
            <a:avLst/>
          </a:prstGeom>
          <a:noFill/>
          <a:ln>
            <a:noFill/>
          </a:ln>
        </p:spPr>
      </p:pic>
      <p:pic>
        <p:nvPicPr>
          <p:cNvPr id="335" name="Google Shape;335;p27" descr="image.png"/>
          <p:cNvPicPr preferRelativeResize="0"/>
          <p:nvPr/>
        </p:nvPicPr>
        <p:blipFill rotWithShape="1">
          <a:blip r:embed="rId5"/>
          <a:srcRect/>
          <a:stretch>
            <a:fillRect/>
          </a:stretch>
        </p:blipFill>
        <p:spPr>
          <a:xfrm>
            <a:off x="6581775" y="3882330"/>
            <a:ext cx="190500" cy="200025"/>
          </a:xfrm>
          <a:prstGeom prst="rect">
            <a:avLst/>
          </a:prstGeom>
          <a:noFill/>
          <a:ln>
            <a:noFill/>
          </a:ln>
        </p:spPr>
      </p:pic>
      <p:pic>
        <p:nvPicPr>
          <p:cNvPr id="336" name="Google Shape;336;p27" descr="image.png"/>
          <p:cNvPicPr preferRelativeResize="0"/>
          <p:nvPr/>
        </p:nvPicPr>
        <p:blipFill rotWithShape="1">
          <a:blip r:embed="rId6"/>
          <a:srcRect/>
          <a:stretch>
            <a:fillRect/>
          </a:stretch>
        </p:blipFill>
        <p:spPr>
          <a:xfrm>
            <a:off x="6581775" y="4876651"/>
            <a:ext cx="171450" cy="200025"/>
          </a:xfrm>
          <a:prstGeom prst="rect">
            <a:avLst/>
          </a:prstGeom>
          <a:noFill/>
          <a:ln>
            <a:noFill/>
          </a:ln>
        </p:spPr>
      </p:pic>
      <p:sp>
        <p:nvSpPr>
          <p:cNvPr id="337" name="Google Shape;337;p27"/>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38" name="Google Shape;338;p27"/>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39" name="Google Shape;339;p27"/>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HỆ THỐNG API CHỨC NĂNG CHÍNH</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340" name="Google Shape;340;p27"/>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44" name="Shape 344"/>
        <p:cNvGrpSpPr/>
        <p:nvPr/>
      </p:nvGrpSpPr>
      <p:grpSpPr>
        <a:xfrm>
          <a:off x="0" y="0"/>
          <a:ext cx="0" cy="0"/>
          <a:chOff x="0" y="0"/>
          <a:chExt cx="0" cy="0"/>
        </a:xfrm>
      </p:grpSpPr>
      <p:pic>
        <p:nvPicPr>
          <p:cNvPr id="345" name="Google Shape;345;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46" name="Google Shape;346;p28" descr="image.png"/>
          <p:cNvPicPr preferRelativeResize="0"/>
          <p:nvPr/>
        </p:nvPicPr>
        <p:blipFill rotWithShape="1">
          <a:blip r:embed="rId2"/>
          <a:srcRect/>
          <a:stretch>
            <a:fillRect/>
          </a:stretch>
        </p:blipFill>
        <p:spPr>
          <a:xfrm>
            <a:off x="571500" y="2213669"/>
            <a:ext cx="3524250" cy="3145035"/>
          </a:xfrm>
          <a:prstGeom prst="rect">
            <a:avLst/>
          </a:prstGeom>
          <a:noFill/>
          <a:ln>
            <a:noFill/>
          </a:ln>
        </p:spPr>
      </p:pic>
      <p:pic>
        <p:nvPicPr>
          <p:cNvPr id="347" name="Google Shape;347;p28" descr="image.png"/>
          <p:cNvPicPr preferRelativeResize="0"/>
          <p:nvPr/>
        </p:nvPicPr>
        <p:blipFill rotWithShape="1">
          <a:blip r:embed="rId2"/>
          <a:srcRect/>
          <a:stretch>
            <a:fillRect/>
          </a:stretch>
        </p:blipFill>
        <p:spPr>
          <a:xfrm>
            <a:off x="4333875" y="2213669"/>
            <a:ext cx="3524250" cy="3145035"/>
          </a:xfrm>
          <a:prstGeom prst="rect">
            <a:avLst/>
          </a:prstGeom>
          <a:noFill/>
          <a:ln>
            <a:noFill/>
          </a:ln>
        </p:spPr>
      </p:pic>
      <p:pic>
        <p:nvPicPr>
          <p:cNvPr id="348" name="Google Shape;348;p28" descr="image.png"/>
          <p:cNvPicPr preferRelativeResize="0"/>
          <p:nvPr/>
        </p:nvPicPr>
        <p:blipFill rotWithShape="1">
          <a:blip r:embed="rId2"/>
          <a:srcRect/>
          <a:stretch>
            <a:fillRect/>
          </a:stretch>
        </p:blipFill>
        <p:spPr>
          <a:xfrm>
            <a:off x="8096250" y="2213669"/>
            <a:ext cx="3524250" cy="3145035"/>
          </a:xfrm>
          <a:prstGeom prst="rect">
            <a:avLst/>
          </a:prstGeom>
          <a:noFill/>
          <a:ln>
            <a:noFill/>
          </a:ln>
        </p:spPr>
      </p:pic>
      <p:sp>
        <p:nvSpPr>
          <p:cNvPr id="349" name="Google Shape;349;p28"/>
          <p:cNvSpPr txBox="1"/>
          <p:nvPr/>
        </p:nvSpPr>
        <p:spPr>
          <a:xfrm>
            <a:off x="866775"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Giải pháp thực tiễn</a:t>
            </a:r>
            <a:endParaRPr lang="en-US" sz="1650" b="1" i="0" u="none" strike="noStrike" cap="none">
              <a:solidFill>
                <a:srgbClr val="00E5FF"/>
              </a:solidFill>
              <a:latin typeface="Public Sans"/>
              <a:ea typeface="Public Sans"/>
              <a:cs typeface="Public Sans"/>
              <a:sym typeface="Public Sans"/>
            </a:endParaRPr>
          </a:p>
        </p:txBody>
      </p:sp>
      <p:sp>
        <p:nvSpPr>
          <p:cNvPr id="350" name="Google Shape;350;p28"/>
          <p:cNvSpPr txBox="1"/>
          <p:nvPr/>
        </p:nvSpPr>
        <p:spPr>
          <a:xfrm>
            <a:off x="866775"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Xây dựng thành công hệ thống hỗ trợ đắc lực cho giảng viên trong việc theo sát tiến độ lớp học, giải quyết triệt để bài toán rà soát thủ công.</a:t>
            </a:r>
            <a:endParaRPr lang="en-US" sz="1350" b="0" i="0" u="none" strike="noStrike" cap="none">
              <a:solidFill>
                <a:srgbClr val="E2E8F0"/>
              </a:solidFill>
              <a:latin typeface="Public Sans"/>
              <a:ea typeface="Public Sans"/>
              <a:cs typeface="Public Sans"/>
              <a:sym typeface="Public Sans"/>
            </a:endParaRPr>
          </a:p>
        </p:txBody>
      </p:sp>
      <p:sp>
        <p:nvSpPr>
          <p:cNvPr id="351" name="Google Shape;351;p28"/>
          <p:cNvSpPr txBox="1"/>
          <p:nvPr/>
        </p:nvSpPr>
        <p:spPr>
          <a:xfrm>
            <a:off x="4629150"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Tự động hóa cao</a:t>
            </a:r>
            <a:endParaRPr lang="en-US" sz="1650" b="1" i="0" u="none" strike="noStrike" cap="none">
              <a:solidFill>
                <a:srgbClr val="00E5FF"/>
              </a:solidFill>
              <a:latin typeface="Public Sans"/>
              <a:ea typeface="Public Sans"/>
              <a:cs typeface="Public Sans"/>
              <a:sym typeface="Public Sans"/>
            </a:endParaRPr>
          </a:p>
        </p:txBody>
      </p:sp>
      <p:sp>
        <p:nvSpPr>
          <p:cNvPr id="352" name="Google Shape;352;p28"/>
          <p:cNvSpPr txBox="1"/>
          <p:nvPr/>
        </p:nvSpPr>
        <p:spPr>
          <a:xfrm>
            <a:off x="4629150"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Quy trình đồng bộ và tính toán chỉ số rủi ro diễn ra hoàn toàn tự động, đảm bảo tính cập nhật liên tục theo tiến trình môn học.</a:t>
            </a:r>
            <a:endParaRPr lang="en-US" sz="1350" b="0" i="0" u="none" strike="noStrike" cap="none">
              <a:solidFill>
                <a:srgbClr val="E2E8F0"/>
              </a:solidFill>
              <a:latin typeface="Public Sans"/>
              <a:ea typeface="Public Sans"/>
              <a:cs typeface="Public Sans"/>
              <a:sym typeface="Public Sans"/>
            </a:endParaRPr>
          </a:p>
        </p:txBody>
      </p:sp>
      <p:sp>
        <p:nvSpPr>
          <p:cNvPr id="353" name="Google Shape;353;p28"/>
          <p:cNvSpPr txBox="1"/>
          <p:nvPr/>
        </p:nvSpPr>
        <p:spPr>
          <a:xfrm>
            <a:off x="8391525" y="3232844"/>
            <a:ext cx="308038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0E5FF"/>
                </a:solidFill>
                <a:latin typeface="Public Sans"/>
                <a:ea typeface="Public Sans"/>
                <a:cs typeface="Public Sans"/>
                <a:sym typeface="Public Sans"/>
              </a:rPr>
              <a:t>Trải nghiệm tối ưu</a:t>
            </a:r>
            <a:endParaRPr lang="en-US" sz="1650" b="1" i="0" u="none" strike="noStrike" cap="none">
              <a:solidFill>
                <a:srgbClr val="00E5FF"/>
              </a:solidFill>
              <a:latin typeface="Public Sans"/>
              <a:ea typeface="Public Sans"/>
              <a:cs typeface="Public Sans"/>
              <a:sym typeface="Public Sans"/>
            </a:endParaRPr>
          </a:p>
        </p:txBody>
      </p:sp>
      <p:sp>
        <p:nvSpPr>
          <p:cNvPr id="354" name="Google Shape;354;p28"/>
          <p:cNvSpPr txBox="1"/>
          <p:nvPr/>
        </p:nvSpPr>
        <p:spPr>
          <a:xfrm>
            <a:off x="8391525" y="3794819"/>
            <a:ext cx="293370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E2E8F0"/>
                </a:solidFill>
                <a:latin typeface="Public Sans"/>
                <a:ea typeface="Public Sans"/>
                <a:cs typeface="Public Sans"/>
                <a:sym typeface="Public Sans"/>
              </a:rPr>
              <a:t>Chatbot thông minh phản hồi nhanh dưới 2 giây với độ chính xác cao, mang lại trải nghiệm tương tác học tập hiện đại, thân thiện.</a:t>
            </a:r>
            <a:endParaRPr lang="en-US" sz="1350" b="0" i="0" u="none" strike="noStrike" cap="none">
              <a:solidFill>
                <a:srgbClr val="E2E8F0"/>
              </a:solidFill>
              <a:latin typeface="Public Sans"/>
              <a:ea typeface="Public Sans"/>
              <a:cs typeface="Public Sans"/>
              <a:sym typeface="Public Sans"/>
            </a:endParaRPr>
          </a:p>
        </p:txBody>
      </p:sp>
      <p:pic>
        <p:nvPicPr>
          <p:cNvPr id="355" name="Google Shape;355;p28" descr="image.png"/>
          <p:cNvPicPr preferRelativeResize="0"/>
          <p:nvPr/>
        </p:nvPicPr>
        <p:blipFill rotWithShape="1">
          <a:blip r:embed="rId3"/>
          <a:srcRect/>
          <a:stretch>
            <a:fillRect/>
          </a:stretch>
        </p:blipFill>
        <p:spPr>
          <a:xfrm>
            <a:off x="866775" y="2585144"/>
            <a:ext cx="419100" cy="419100"/>
          </a:xfrm>
          <a:prstGeom prst="rect">
            <a:avLst/>
          </a:prstGeom>
          <a:noFill/>
          <a:ln>
            <a:noFill/>
          </a:ln>
        </p:spPr>
      </p:pic>
      <p:pic>
        <p:nvPicPr>
          <p:cNvPr id="356" name="Google Shape;356;p28" descr="image.png"/>
          <p:cNvPicPr preferRelativeResize="0"/>
          <p:nvPr/>
        </p:nvPicPr>
        <p:blipFill rotWithShape="1">
          <a:blip r:embed="rId4"/>
          <a:srcRect/>
          <a:stretch>
            <a:fillRect/>
          </a:stretch>
        </p:blipFill>
        <p:spPr>
          <a:xfrm>
            <a:off x="4629150" y="2585144"/>
            <a:ext cx="419100" cy="419100"/>
          </a:xfrm>
          <a:prstGeom prst="rect">
            <a:avLst/>
          </a:prstGeom>
          <a:noFill/>
          <a:ln>
            <a:noFill/>
          </a:ln>
        </p:spPr>
      </p:pic>
      <p:pic>
        <p:nvPicPr>
          <p:cNvPr id="357" name="Google Shape;357;p28" descr="image.png"/>
          <p:cNvPicPr preferRelativeResize="0"/>
          <p:nvPr/>
        </p:nvPicPr>
        <p:blipFill rotWithShape="1">
          <a:blip r:embed="rId5"/>
          <a:srcRect/>
          <a:stretch>
            <a:fillRect/>
          </a:stretch>
        </p:blipFill>
        <p:spPr>
          <a:xfrm>
            <a:off x="8391525" y="2585144"/>
            <a:ext cx="476250" cy="419100"/>
          </a:xfrm>
          <a:prstGeom prst="rect">
            <a:avLst/>
          </a:prstGeom>
          <a:noFill/>
          <a:ln>
            <a:noFill/>
          </a:ln>
        </p:spPr>
      </p:pic>
      <p:sp>
        <p:nvSpPr>
          <p:cNvPr id="358" name="Google Shape;358;p28"/>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59" name="Google Shape;359;p28"/>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60" name="Google Shape;360;p28"/>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KẾT LUẬN &amp; THÀNH TỰU CỦA ĐỀ TÀI</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361" name="Google Shape;361;p28"/>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65" name="Shape 365"/>
        <p:cNvGrpSpPr/>
        <p:nvPr/>
      </p:nvGrpSpPr>
      <p:grpSpPr>
        <a:xfrm>
          <a:off x="0" y="0"/>
          <a:ext cx="0" cy="0"/>
          <a:chOff x="0" y="0"/>
          <a:chExt cx="0" cy="0"/>
        </a:xfrm>
      </p:grpSpPr>
      <p:pic>
        <p:nvPicPr>
          <p:cNvPr id="366" name="Google Shape;366;p2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7" name="Google Shape;367;p29" descr="image.png"/>
          <p:cNvPicPr preferRelativeResize="0"/>
          <p:nvPr/>
        </p:nvPicPr>
        <p:blipFill rotWithShape="1">
          <a:blip r:embed="rId2"/>
          <a:srcRect/>
          <a:stretch>
            <a:fillRect/>
          </a:stretch>
        </p:blipFill>
        <p:spPr>
          <a:xfrm>
            <a:off x="1333500" y="1879401"/>
            <a:ext cx="9525000" cy="3813571"/>
          </a:xfrm>
          <a:prstGeom prst="rect">
            <a:avLst/>
          </a:prstGeom>
          <a:noFill/>
          <a:ln>
            <a:noFill/>
          </a:ln>
        </p:spPr>
      </p:pic>
      <p:sp>
        <p:nvSpPr>
          <p:cNvPr id="368" name="Google Shape;368;p29"/>
          <p:cNvSpPr txBox="1"/>
          <p:nvPr/>
        </p:nvSpPr>
        <p:spPr>
          <a:xfrm>
            <a:off x="2438400" y="2422326"/>
            <a:ext cx="802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Mô hình dự báo AI nâng cao:</a:t>
            </a:r>
            <a:r>
              <a:rPr lang="en-US" sz="1350" b="0" i="0" u="none" strike="noStrike" cap="none">
                <a:solidFill>
                  <a:srgbClr val="E2E8F0"/>
                </a:solidFill>
                <a:latin typeface="Public Sans"/>
                <a:ea typeface="Public Sans"/>
                <a:cs typeface="Public Sans"/>
                <a:sym typeface="Public Sans"/>
              </a:rPr>
              <a:t> Áp dụng thuật toán Machine Learning phân tích dữ liệu lịch sử để dự báo xu hướng kết quả học tập của sinh viên với độ chính xác cao hơn.</a:t>
            </a:r>
            <a:endParaRPr lang="en-US" sz="1350" b="0" i="0" u="none" strike="noStrike" cap="none">
              <a:solidFill>
                <a:srgbClr val="E2E8F0"/>
              </a:solidFill>
              <a:latin typeface="Public Sans"/>
              <a:ea typeface="Public Sans"/>
              <a:cs typeface="Public Sans"/>
              <a:sym typeface="Public Sans"/>
            </a:endParaRPr>
          </a:p>
        </p:txBody>
      </p:sp>
      <p:sp>
        <p:nvSpPr>
          <p:cNvPr id="369" name="Google Shape;369;p29"/>
          <p:cNvSpPr txBox="1"/>
          <p:nvPr/>
        </p:nvSpPr>
        <p:spPr>
          <a:xfrm>
            <a:off x="2438400" y="3142357"/>
            <a:ext cx="802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Mở rộng đa kênh:</a:t>
            </a:r>
            <a:r>
              <a:rPr lang="en-US" sz="1350" b="0" i="0" u="none" strike="noStrike" cap="none">
                <a:solidFill>
                  <a:srgbClr val="E2E8F0"/>
                </a:solidFill>
                <a:latin typeface="Public Sans"/>
                <a:ea typeface="Public Sans"/>
                <a:cs typeface="Public Sans"/>
                <a:sym typeface="Public Sans"/>
              </a:rPr>
              <a:t> Tích hợp hệ thống Chatbot cảnh báo lên các nền tảng mạng xã hội phổ biến như Zalo, Telegram, Facebook Messenger để tăng tính tiếp cận.</a:t>
            </a:r>
            <a:endParaRPr lang="en-US" sz="1350" b="0" i="0" u="none" strike="noStrike" cap="none">
              <a:solidFill>
                <a:srgbClr val="E2E8F0"/>
              </a:solidFill>
              <a:latin typeface="Public Sans"/>
              <a:ea typeface="Public Sans"/>
              <a:cs typeface="Public Sans"/>
              <a:sym typeface="Public Sans"/>
            </a:endParaRPr>
          </a:p>
        </p:txBody>
      </p:sp>
      <p:sp>
        <p:nvSpPr>
          <p:cNvPr id="370" name="Google Shape;370;p29"/>
          <p:cNvSpPr txBox="1"/>
          <p:nvPr/>
        </p:nvSpPr>
        <p:spPr>
          <a:xfrm>
            <a:off x="2438400" y="3862387"/>
            <a:ext cx="802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Cá nhân hóa lộ trình:</a:t>
            </a:r>
            <a:r>
              <a:rPr lang="en-US" sz="1350" b="0" i="0" u="none" strike="noStrike" cap="none">
                <a:solidFill>
                  <a:srgbClr val="E2E8F0"/>
                </a:solidFill>
                <a:latin typeface="Public Sans"/>
                <a:ea typeface="Public Sans"/>
                <a:cs typeface="Public Sans"/>
                <a:sym typeface="Public Sans"/>
              </a:rPr>
              <a:t> Sử dụng AI phân tích sâu các lỗ hổng kiến thức để tự động đề xuất lộ trình ôn tập bổ trợ cá nhân hóa cho từng sinh viên thuộc nhóm rủi ro cao.</a:t>
            </a:r>
            <a:endParaRPr lang="en-US" sz="1350" b="0" i="0" u="none" strike="noStrike" cap="none">
              <a:solidFill>
                <a:srgbClr val="E2E8F0"/>
              </a:solidFill>
              <a:latin typeface="Public Sans"/>
              <a:ea typeface="Public Sans"/>
              <a:cs typeface="Public Sans"/>
              <a:sym typeface="Public Sans"/>
            </a:endParaRPr>
          </a:p>
        </p:txBody>
      </p:sp>
      <p:sp>
        <p:nvSpPr>
          <p:cNvPr id="371" name="Google Shape;371;p29"/>
          <p:cNvSpPr txBox="1"/>
          <p:nvPr/>
        </p:nvSpPr>
        <p:spPr>
          <a:xfrm>
            <a:off x="2438400" y="4582417"/>
            <a:ext cx="80295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E2E8F0"/>
                </a:solidFill>
                <a:latin typeface="Public Sans"/>
                <a:ea typeface="Public Sans"/>
                <a:cs typeface="Public Sans"/>
                <a:sym typeface="Public Sans"/>
              </a:rPr>
              <a:t>Hệ thống phân tán:</a:t>
            </a:r>
            <a:r>
              <a:rPr lang="en-US" sz="1350" b="0" i="0" u="none" strike="noStrike" cap="none">
                <a:solidFill>
                  <a:srgbClr val="E2E8F0"/>
                </a:solidFill>
                <a:latin typeface="Public Sans"/>
                <a:ea typeface="Public Sans"/>
                <a:cs typeface="Public Sans"/>
                <a:sym typeface="Public Sans"/>
              </a:rPr>
              <a:t> Nâng cấp kiến trúc hệ thống để đáp ứng nhu cầu sử dụng đồng thời và xử lý lượng lớn dữ liệu ở quy mô cấp Trường.</a:t>
            </a:r>
            <a:endParaRPr lang="en-US" sz="1350" b="0" i="0" u="none" strike="noStrike" cap="none">
              <a:solidFill>
                <a:srgbClr val="E2E8F0"/>
              </a:solidFill>
              <a:latin typeface="Public Sans"/>
              <a:ea typeface="Public Sans"/>
              <a:cs typeface="Public Sans"/>
              <a:sym typeface="Public Sans"/>
            </a:endParaRPr>
          </a:p>
        </p:txBody>
      </p:sp>
      <p:pic>
        <p:nvPicPr>
          <p:cNvPr id="372" name="Google Shape;372;p29" descr="image.png"/>
          <p:cNvPicPr preferRelativeResize="0"/>
          <p:nvPr/>
        </p:nvPicPr>
        <p:blipFill rotWithShape="1">
          <a:blip r:embed="rId3"/>
          <a:srcRect/>
          <a:stretch>
            <a:fillRect/>
          </a:stretch>
        </p:blipFill>
        <p:spPr>
          <a:xfrm>
            <a:off x="2105025" y="2465189"/>
            <a:ext cx="190500" cy="200025"/>
          </a:xfrm>
          <a:prstGeom prst="rect">
            <a:avLst/>
          </a:prstGeom>
          <a:noFill/>
          <a:ln>
            <a:noFill/>
          </a:ln>
        </p:spPr>
      </p:pic>
      <p:pic>
        <p:nvPicPr>
          <p:cNvPr id="373" name="Google Shape;373;p29" descr="image.png"/>
          <p:cNvPicPr preferRelativeResize="0"/>
          <p:nvPr/>
        </p:nvPicPr>
        <p:blipFill rotWithShape="1">
          <a:blip r:embed="rId4"/>
          <a:srcRect/>
          <a:stretch>
            <a:fillRect/>
          </a:stretch>
        </p:blipFill>
        <p:spPr>
          <a:xfrm>
            <a:off x="2105025" y="3185219"/>
            <a:ext cx="238125" cy="200025"/>
          </a:xfrm>
          <a:prstGeom prst="rect">
            <a:avLst/>
          </a:prstGeom>
          <a:noFill/>
          <a:ln>
            <a:noFill/>
          </a:ln>
        </p:spPr>
      </p:pic>
      <p:pic>
        <p:nvPicPr>
          <p:cNvPr id="374" name="Google Shape;374;p29" descr="image.png"/>
          <p:cNvPicPr preferRelativeResize="0"/>
          <p:nvPr/>
        </p:nvPicPr>
        <p:blipFill rotWithShape="1">
          <a:blip r:embed="rId5"/>
          <a:srcRect/>
          <a:stretch>
            <a:fillRect/>
          </a:stretch>
        </p:blipFill>
        <p:spPr>
          <a:xfrm>
            <a:off x="2105025" y="3905250"/>
            <a:ext cx="238125" cy="200025"/>
          </a:xfrm>
          <a:prstGeom prst="rect">
            <a:avLst/>
          </a:prstGeom>
          <a:noFill/>
          <a:ln>
            <a:noFill/>
          </a:ln>
        </p:spPr>
      </p:pic>
      <p:pic>
        <p:nvPicPr>
          <p:cNvPr id="375" name="Google Shape;375;p29" descr="image.png"/>
          <p:cNvPicPr preferRelativeResize="0"/>
          <p:nvPr/>
        </p:nvPicPr>
        <p:blipFill rotWithShape="1">
          <a:blip r:embed="rId6"/>
          <a:srcRect/>
          <a:stretch>
            <a:fillRect/>
          </a:stretch>
        </p:blipFill>
        <p:spPr>
          <a:xfrm>
            <a:off x="2105025" y="4625280"/>
            <a:ext cx="238125" cy="200025"/>
          </a:xfrm>
          <a:prstGeom prst="rect">
            <a:avLst/>
          </a:prstGeom>
          <a:noFill/>
          <a:ln>
            <a:noFill/>
          </a:ln>
        </p:spPr>
      </p:pic>
      <p:sp>
        <p:nvSpPr>
          <p:cNvPr id="376" name="Google Shape;376;p29"/>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77" name="Google Shape;377;p29"/>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78" name="Google Shape;378;p29"/>
          <p:cNvSpPr txBox="1"/>
          <p:nvPr/>
        </p:nvSpPr>
        <p:spPr>
          <a:xfrm>
            <a:off x="762000" y="571500"/>
            <a:ext cx="11401425"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Public Sans ExtraBold"/>
                <a:ea typeface="Public Sans ExtraBold"/>
                <a:cs typeface="Public Sans ExtraBold"/>
                <a:sym typeface="Public Sans ExtraBold"/>
              </a:rPr>
              <a:t>HƯỚNG PHÁT TRIỂN TƯƠNG LAI</a:t>
            </a:r>
            <a:endParaRPr lang="en-US" sz="2550" b="0" i="0" u="none" strike="noStrike" cap="none">
              <a:solidFill>
                <a:srgbClr val="FFFFFF"/>
              </a:solidFill>
              <a:latin typeface="Public Sans ExtraBold"/>
              <a:ea typeface="Public Sans ExtraBold"/>
              <a:cs typeface="Public Sans ExtraBold"/>
              <a:sym typeface="Public Sans ExtraBold"/>
            </a:endParaRPr>
          </a:p>
        </p:txBody>
      </p:sp>
      <p:sp>
        <p:nvSpPr>
          <p:cNvPr id="379" name="Google Shape;379;p29"/>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pic>
        <p:nvPicPr>
          <p:cNvPr id="384" name="Google Shape;384;p30"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85" name="Google Shape;385;p30"/>
          <p:cNvSpPr txBox="1"/>
          <p:nvPr/>
        </p:nvSpPr>
        <p:spPr>
          <a:xfrm>
            <a:off x="4916850" y="2833325"/>
            <a:ext cx="235830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950">
                <a:solidFill>
                  <a:srgbClr val="FFFFFF"/>
                </a:solidFill>
                <a:latin typeface="Public Sans ExtraBold"/>
                <a:ea typeface="Public Sans ExtraBold"/>
                <a:cs typeface="Public Sans ExtraBold"/>
                <a:sym typeface="Public Sans ExtraBold"/>
              </a:rPr>
              <a:t>DEMO</a:t>
            </a:r>
            <a:endParaRPr sz="3800"/>
          </a:p>
        </p:txBody>
      </p:sp>
      <p:sp>
        <p:nvSpPr>
          <p:cNvPr id="386" name="Google Shape;386;p30"/>
          <p:cNvSpPr/>
          <p:nvPr/>
        </p:nvSpPr>
        <p:spPr>
          <a:xfrm>
            <a:off x="571500" y="571500"/>
            <a:ext cx="57150" cy="381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90" name="Shape 390"/>
        <p:cNvGrpSpPr/>
        <p:nvPr/>
      </p:nvGrpSpPr>
      <p:grpSpPr>
        <a:xfrm>
          <a:off x="0" y="0"/>
          <a:ext cx="0" cy="0"/>
          <a:chOff x="0" y="0"/>
          <a:chExt cx="0" cy="0"/>
        </a:xfrm>
      </p:grpSpPr>
      <p:pic>
        <p:nvPicPr>
          <p:cNvPr id="391" name="Google Shape;391;p31"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92" name="Google Shape;392;p31"/>
          <p:cNvSpPr txBox="1"/>
          <p:nvPr/>
        </p:nvSpPr>
        <p:spPr>
          <a:xfrm>
            <a:off x="2120503" y="1797397"/>
            <a:ext cx="7950993"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0" i="0" u="none" strike="noStrike" cap="none">
                <a:solidFill>
                  <a:srgbClr val="FFFFFF"/>
                </a:solidFill>
                <a:latin typeface="Public Sans ExtraBold"/>
                <a:ea typeface="Public Sans ExtraBold"/>
                <a:cs typeface="Public Sans ExtraBold"/>
                <a:sym typeface="Public Sans ExtraBold"/>
              </a:rPr>
              <a:t>XIN CHÂN THÀNH CẢM ƠN!</a:t>
            </a:r>
            <a:endParaRPr lang="en-US" sz="4200" b="0" i="0" u="none" strike="noStrike" cap="none">
              <a:solidFill>
                <a:srgbClr val="FFFFFF"/>
              </a:solidFill>
              <a:latin typeface="Public Sans ExtraBold"/>
              <a:ea typeface="Public Sans ExtraBold"/>
              <a:cs typeface="Public Sans ExtraBold"/>
              <a:sym typeface="Public Sans ExtraBold"/>
            </a:endParaRPr>
          </a:p>
        </p:txBody>
      </p:sp>
      <p:sp>
        <p:nvSpPr>
          <p:cNvPr id="393" name="Google Shape;393;p31"/>
          <p:cNvSpPr/>
          <p:nvPr/>
        </p:nvSpPr>
        <p:spPr>
          <a:xfrm>
            <a:off x="5381625" y="2997547"/>
            <a:ext cx="1428750" cy="47625"/>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94" name="Google Shape;394;p31"/>
          <p:cNvSpPr txBox="1"/>
          <p:nvPr/>
        </p:nvSpPr>
        <p:spPr>
          <a:xfrm>
            <a:off x="2347912" y="3635722"/>
            <a:ext cx="749617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E2E8F0"/>
                </a:solidFill>
                <a:latin typeface="Public Sans"/>
                <a:ea typeface="Public Sans"/>
                <a:cs typeface="Public Sans"/>
                <a:sym typeface="Public Sans"/>
              </a:rPr>
              <a:t>Hội đồng và các Thầy/Cô đã chú ý lắng nghe bài báo cáo khóa luận tốt nghiệp.</a:t>
            </a:r>
            <a:endParaRPr lang="en-US" sz="1650" b="0" i="0" u="none" strike="noStrike" cap="none">
              <a:solidFill>
                <a:srgbClr val="E2E8F0"/>
              </a:solidFill>
              <a:latin typeface="Public Sans"/>
              <a:ea typeface="Public Sans"/>
              <a:cs typeface="Public Sans"/>
              <a:sym typeface="Public Sans"/>
            </a:endParaRPr>
          </a:p>
        </p:txBody>
      </p:sp>
      <p:sp>
        <p:nvSpPr>
          <p:cNvPr id="395" name="Google Shape;395;p31"/>
          <p:cNvSpPr/>
          <p:nvPr/>
        </p:nvSpPr>
        <p:spPr>
          <a:xfrm>
            <a:off x="0" y="0"/>
            <a:ext cx="1143000" cy="1143000"/>
          </a:xfrm>
          <a:prstGeom prst="rect">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96" name="Google Shape;396;p31"/>
          <p:cNvSpPr/>
          <p:nvPr/>
        </p:nvSpPr>
        <p:spPr>
          <a:xfrm>
            <a:off x="10287000" y="-952500"/>
            <a:ext cx="2381250" cy="2381250"/>
          </a:xfrm>
          <a:prstGeom prst="roundRect">
            <a:avLst>
              <a:gd name="adj" fmla="val 50000"/>
            </a:avLst>
          </a:prstGeom>
          <a:solidFill>
            <a:srgbClr val="00FF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6731</Words>
  <Application>WPS Presentation</Application>
  <PresentationFormat/>
  <Paragraphs>212</Paragraphs>
  <Slides>19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Arial</vt:lpstr>
      <vt:lpstr>Calibri</vt:lpstr>
      <vt:lpstr>Public Sans</vt:lpstr>
      <vt:lpstr>Public Sans SemiBold</vt:lpstr>
      <vt:lpstr>Public Sans ExtraBold</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Nhath</cp:lastModifiedBy>
  <cp:revision>2</cp:revision>
  <dcterms:created xsi:type="dcterms:W3CDTF">2026-07-07T02:02:00Z</dcterms:created>
  <dcterms:modified xsi:type="dcterms:W3CDTF">2026-07-07T02:50:38Z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FA84704A25854133AE85FA866449A482_12</vt:lpwstr>
  </property>
  <property fmtid="{D5CDD505-2E9C-101B-9397-08002B2CF9AE}" pid="3" name="KSOProductBuildVer">
    <vt:lpwstr>1033-12.1.0.26880</vt:lpwstr>
  </property>
</Properties>
</file>